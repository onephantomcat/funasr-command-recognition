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0"/>
    <p:restoredTop sz="94821"/>
  </p:normalViewPr>
  <p:slideViewPr>
    <p:cSldViewPr snapToGrid="0">
      <p:cViewPr varScale="1">
        <p:scale>
          <a:sx n="90" d="100"/>
          <a:sy n="90" d="100"/>
        </p:scale>
        <p:origin x="13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EE4840-4776-4123-90A8-2867CF96FA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173A5E"/>
          </a:solidFill>
          <a:ln w="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030621" y="495300"/>
            <a:ext cx="2474659" cy="832104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BE6D84F3-20A2-495F-B22D-7D3D453DA544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666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0">
                <a:solidFill>
                  <a:srgbClr val="173A5E"/>
                </a:solidFill>
              </a:defRPr>
            </a:pPr>
            <a:r>
              <a:rPr sz="3000" b="0">
                <a:solidFill>
                  <a:srgbClr val="173A5E"/>
                </a:solidFill>
              </a:rPr>
              <a:t>复杂交互场景的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40A52D-B028-40E4-86D9-8D1EAF3C720E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666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495F6"/>
                </a:solidFill>
              </a:defRPr>
            </a:pPr>
            <a:r>
              <a:rPr sz="3150" b="1">
                <a:solidFill>
                  <a:srgbClr val="1495F6"/>
                </a:solidFill>
              </a:rPr>
              <a:t>抗干扰语音指令识别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D10DDB8-98EB-449E-B908-D2269F1537B5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666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73A5E"/>
                </a:solidFill>
              </a:defRPr>
            </a:pPr>
            <a:r>
              <a:rPr lang="zh-CN" altLang="en-US" sz="3000" b="1" dirty="0">
                <a:solidFill>
                  <a:srgbClr val="173A5E"/>
                </a:solidFill>
              </a:rPr>
              <a:t>第一</a:t>
            </a:r>
            <a:r>
              <a:rPr lang="zh-CN" altLang="en-US" sz="3000" b="1">
                <a:solidFill>
                  <a:srgbClr val="173A5E"/>
                </a:solidFill>
              </a:rPr>
              <a:t>次开会</a:t>
            </a:r>
            <a:endParaRPr sz="3000" b="1" dirty="0">
              <a:solidFill>
                <a:srgbClr val="173A5E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4CB3B09-C144-4516-B82C-97012728D09F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552450" cy="57150"/>
          </a:xfrm>
          <a:prstGeom prst="rect">
            <a:avLst/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AC8DC92D-C2E4-4159-A6A2-1770BA4DB3A9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314325" cy="314325"/>
          </a:xfrm>
          <a:prstGeom prst="roundRect">
            <a:avLst>
              <a:gd name="adj" fmla="val 24242"/>
            </a:avLst>
          </a:prstGeom>
          <a:solidFill>
            <a:srgbClr val="173A5E"/>
          </a:solidFill>
          <a:ln w="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E1FC83-5F1F-4566-AA00-D1957291DB2F}"/>
              </a:ext>
            </a:extLst>
          </p:cNvPr>
          <p:cNvSpPr>
            <a:spLocks noGrp="1"/>
          </p:cNvSpPr>
          <p:nvPr/>
        </p:nvSpPr>
        <p:spPr>
          <a:xfrm>
            <a:off x="685800" y="3686175"/>
            <a:ext cx="3143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·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59B19B9-0A5E-45CD-B2BB-F1F20559152D}"/>
              </a:ext>
            </a:extLst>
          </p:cNvPr>
          <p:cNvSpPr>
            <a:spLocks noGrp="1"/>
          </p:cNvSpPr>
          <p:nvPr/>
        </p:nvSpPr>
        <p:spPr>
          <a:xfrm>
            <a:off x="1152525" y="3714750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495F6"/>
                </a:solidFill>
              </a:defRPr>
            </a:pPr>
            <a:r>
              <a:rPr sz="1350" b="1">
                <a:solidFill>
                  <a:srgbClr val="1495F6"/>
                </a:solidFill>
              </a:rPr>
              <a:t>会议目标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F83E6D6-2800-49CD-AD8A-46804D3EDF1A}"/>
              </a:ext>
            </a:extLst>
          </p:cNvPr>
          <p:cNvSpPr>
            <a:spLocks noGrp="1"/>
          </p:cNvSpPr>
          <p:nvPr/>
        </p:nvSpPr>
        <p:spPr>
          <a:xfrm>
            <a:off x="2286000" y="3724275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9324A"/>
                </a:solidFill>
              </a:defRPr>
            </a:pPr>
            <a:r>
              <a:rPr sz="1350" b="0">
                <a:solidFill>
                  <a:srgbClr val="19324A"/>
                </a:solidFill>
              </a:rPr>
              <a:t>共创可执行比赛方案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B433228C-2FEB-4BDD-BC38-4D292466DD40}"/>
              </a:ext>
            </a:extLst>
          </p:cNvPr>
          <p:cNvSpPr>
            <a:spLocks noGrp="1"/>
          </p:cNvSpPr>
          <p:nvPr/>
        </p:nvSpPr>
        <p:spPr>
          <a:xfrm>
            <a:off x="685800" y="4191000"/>
            <a:ext cx="314325" cy="314325"/>
          </a:xfrm>
          <a:prstGeom prst="roundRect">
            <a:avLst>
              <a:gd name="adj" fmla="val 24242"/>
            </a:avLst>
          </a:prstGeom>
          <a:solidFill>
            <a:srgbClr val="173A5E"/>
          </a:solidFill>
          <a:ln w="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80998C7-8E66-442B-9F57-2810CA9F01CA}"/>
              </a:ext>
            </a:extLst>
          </p:cNvPr>
          <p:cNvSpPr>
            <a:spLocks noGrp="1"/>
          </p:cNvSpPr>
          <p:nvPr/>
        </p:nvSpPr>
        <p:spPr>
          <a:xfrm>
            <a:off x="685800" y="4200525"/>
            <a:ext cx="3143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·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DCA1C46-DB1B-4E81-8800-CF88D54206C0}"/>
              </a:ext>
            </a:extLst>
          </p:cNvPr>
          <p:cNvSpPr>
            <a:spLocks noGrp="1"/>
          </p:cNvSpPr>
          <p:nvPr/>
        </p:nvSpPr>
        <p:spPr>
          <a:xfrm>
            <a:off x="1152525" y="4229100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495F6"/>
                </a:solidFill>
              </a:defRPr>
            </a:pPr>
            <a:r>
              <a:rPr sz="1350" b="1">
                <a:solidFill>
                  <a:srgbClr val="1495F6"/>
                </a:solidFill>
              </a:rPr>
              <a:t>技术路线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F35E56D-E96B-49DE-AD7D-80435DC21FF6}"/>
              </a:ext>
            </a:extLst>
          </p:cNvPr>
          <p:cNvSpPr>
            <a:spLocks noGrp="1"/>
          </p:cNvSpPr>
          <p:nvPr/>
        </p:nvSpPr>
        <p:spPr>
          <a:xfrm>
            <a:off x="2286000" y="4238625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9324A"/>
                </a:solidFill>
              </a:defRPr>
            </a:pPr>
            <a:r>
              <a:rPr sz="1350" b="0">
                <a:solidFill>
                  <a:srgbClr val="19324A"/>
                </a:solidFill>
              </a:rPr>
              <a:t>声纹拒识 + FunASR + 评测闭环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381AA516-DA40-48BE-B629-A94D158EA57D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314325" cy="314325"/>
          </a:xfrm>
          <a:prstGeom prst="roundRect">
            <a:avLst>
              <a:gd name="adj" fmla="val 24242"/>
            </a:avLst>
          </a:prstGeom>
          <a:solidFill>
            <a:srgbClr val="173A5E"/>
          </a:solidFill>
          <a:ln w="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5F8C178-1294-4666-9073-045A3DCD619F}"/>
              </a:ext>
            </a:extLst>
          </p:cNvPr>
          <p:cNvSpPr>
            <a:spLocks noGrp="1"/>
          </p:cNvSpPr>
          <p:nvPr/>
        </p:nvSpPr>
        <p:spPr>
          <a:xfrm>
            <a:off x="685800" y="4714875"/>
            <a:ext cx="3143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·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27E1424-8CBB-4841-BC5D-40D881063B75}"/>
              </a:ext>
            </a:extLst>
          </p:cNvPr>
          <p:cNvSpPr>
            <a:spLocks noGrp="1"/>
          </p:cNvSpPr>
          <p:nvPr/>
        </p:nvSpPr>
        <p:spPr>
          <a:xfrm>
            <a:off x="1152525" y="4743450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495F6"/>
                </a:solidFill>
              </a:defRPr>
            </a:pPr>
            <a:r>
              <a:rPr sz="1350" b="1">
                <a:solidFill>
                  <a:srgbClr val="1495F6"/>
                </a:solidFill>
              </a:rPr>
              <a:t>团队分工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FBBCBE2-9966-453B-8A9F-DF1ED71C0346}"/>
              </a:ext>
            </a:extLst>
          </p:cNvPr>
          <p:cNvSpPr>
            <a:spLocks noGrp="1"/>
          </p:cNvSpPr>
          <p:nvPr/>
        </p:nvSpPr>
        <p:spPr>
          <a:xfrm>
            <a:off x="2286000" y="4752975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9324A"/>
                </a:solidFill>
              </a:defRPr>
            </a:pPr>
            <a:r>
              <a:rPr sz="1350" b="0">
                <a:solidFill>
                  <a:srgbClr val="19324A"/>
                </a:solidFill>
              </a:rPr>
              <a:t>按模块认领，先试运行一周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2C6EE2F4-7888-43D8-A5EA-7E4E556D4F3F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314325" cy="314325"/>
          </a:xfrm>
          <a:prstGeom prst="roundRect">
            <a:avLst>
              <a:gd name="adj" fmla="val 24242"/>
            </a:avLst>
          </a:prstGeom>
          <a:solidFill>
            <a:srgbClr val="173A5E"/>
          </a:solidFill>
          <a:ln w="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E20E284-A815-41C0-AA6F-C138AFF439D6}"/>
              </a:ext>
            </a:extLst>
          </p:cNvPr>
          <p:cNvSpPr>
            <a:spLocks noGrp="1"/>
          </p:cNvSpPr>
          <p:nvPr/>
        </p:nvSpPr>
        <p:spPr>
          <a:xfrm>
            <a:off x="685800" y="5229225"/>
            <a:ext cx="3143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·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5ED0577-7895-4A4A-A042-0ADEC31FFEFE}"/>
              </a:ext>
            </a:extLst>
          </p:cNvPr>
          <p:cNvSpPr>
            <a:spLocks noGrp="1"/>
          </p:cNvSpPr>
          <p:nvPr/>
        </p:nvSpPr>
        <p:spPr>
          <a:xfrm>
            <a:off x="1152525" y="5257800"/>
            <a:ext cx="110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495F6"/>
                </a:solidFill>
              </a:defRPr>
            </a:pPr>
            <a:r>
              <a:rPr sz="1350" b="1">
                <a:solidFill>
                  <a:srgbClr val="1495F6"/>
                </a:solidFill>
              </a:rPr>
              <a:t>近期节奏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2E64DFE-D215-4B3E-AF2A-19EE8CE1E007}"/>
              </a:ext>
            </a:extLst>
          </p:cNvPr>
          <p:cNvSpPr>
            <a:spLocks noGrp="1"/>
          </p:cNvSpPr>
          <p:nvPr/>
        </p:nvSpPr>
        <p:spPr>
          <a:xfrm>
            <a:off x="2286000" y="5267325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9324A"/>
                </a:solidFill>
              </a:defRPr>
            </a:pPr>
            <a:r>
              <a:rPr sz="1350" b="0">
                <a:solidFill>
                  <a:srgbClr val="19324A"/>
                </a:solidFill>
              </a:rPr>
              <a:t>7月5日启动，9月5日前提交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44662540-897E-4032-A39F-803680D93E91}"/>
              </a:ext>
            </a:extLst>
          </p:cNvPr>
          <p:cNvSpPr>
            <a:spLocks noGrp="1"/>
          </p:cNvSpPr>
          <p:nvPr/>
        </p:nvSpPr>
        <p:spPr>
          <a:xfrm>
            <a:off x="7486650" y="1428750"/>
            <a:ext cx="4171950" cy="27432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24B49A6-162C-4E80-AAE7-FBCF0B6545CB}"/>
              </a:ext>
            </a:extLst>
          </p:cNvPr>
          <p:cNvSpPr>
            <a:spLocks noGrp="1"/>
          </p:cNvSpPr>
          <p:nvPr/>
        </p:nvSpPr>
        <p:spPr>
          <a:xfrm>
            <a:off x="7677150" y="1600200"/>
            <a:ext cx="3771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73A5E"/>
                </a:solidFill>
              </a:defRPr>
            </a:pPr>
            <a:r>
              <a:rPr sz="1500" b="1">
                <a:solidFill>
                  <a:srgbClr val="173A5E"/>
                </a:solidFill>
              </a:rPr>
              <a:t>今天要达成的共识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91BB9BA8-561E-4985-A281-37B6B8D59F0F}"/>
              </a:ext>
            </a:extLst>
          </p:cNvPr>
          <p:cNvSpPr>
            <a:spLocks noGrp="1"/>
          </p:cNvSpPr>
          <p:nvPr/>
        </p:nvSpPr>
        <p:spPr>
          <a:xfrm>
            <a:off x="7486650" y="4371975"/>
            <a:ext cx="4171950" cy="419100"/>
          </a:xfrm>
          <a:prstGeom prst="roundRect">
            <a:avLst>
              <a:gd name="adj" fmla="val 18182"/>
            </a:avLst>
          </a:prstGeom>
          <a:solidFill>
            <a:srgbClr val="F3F7FB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C3B2AA24-E568-485F-951F-7C96E5FADCD0}"/>
              </a:ext>
            </a:extLst>
          </p:cNvPr>
          <p:cNvSpPr>
            <a:spLocks noGrp="1"/>
          </p:cNvSpPr>
          <p:nvPr/>
        </p:nvSpPr>
        <p:spPr>
          <a:xfrm>
            <a:off x="7658100" y="45339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F0E5C78-ED6D-4D31-BA6E-2DF2C612F1BB}"/>
              </a:ext>
            </a:extLst>
          </p:cNvPr>
          <p:cNvSpPr>
            <a:spLocks noGrp="1"/>
          </p:cNvSpPr>
          <p:nvPr/>
        </p:nvSpPr>
        <p:spPr>
          <a:xfrm>
            <a:off x="7848600" y="4467225"/>
            <a:ext cx="3657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9324A"/>
                </a:solidFill>
              </a:defRPr>
            </a:pPr>
            <a:r>
              <a:rPr sz="1275" b="0">
                <a:solidFill>
                  <a:srgbClr val="19324A"/>
                </a:solidFill>
              </a:rPr>
              <a:t>先跑通现有工程，不急着训练大模型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C78B41DD-0F4A-4A0F-92D8-6CF580D20EAF}"/>
              </a:ext>
            </a:extLst>
          </p:cNvPr>
          <p:cNvSpPr>
            <a:spLocks noGrp="1"/>
          </p:cNvSpPr>
          <p:nvPr/>
        </p:nvSpPr>
        <p:spPr>
          <a:xfrm>
            <a:off x="7486650" y="4886325"/>
            <a:ext cx="4171950" cy="419100"/>
          </a:xfrm>
          <a:prstGeom prst="roundRect">
            <a:avLst>
              <a:gd name="adj" fmla="val 18182"/>
            </a:avLst>
          </a:prstGeom>
          <a:solidFill>
            <a:srgbClr val="F3F7FB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86107041-5F53-4FE2-BEB1-D3BC14DF60BE}"/>
              </a:ext>
            </a:extLst>
          </p:cNvPr>
          <p:cNvSpPr>
            <a:spLocks noGrp="1"/>
          </p:cNvSpPr>
          <p:nvPr/>
        </p:nvSpPr>
        <p:spPr>
          <a:xfrm>
            <a:off x="7658100" y="50482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C8F9495-7498-4B78-8C78-2D8BB4980457}"/>
              </a:ext>
            </a:extLst>
          </p:cNvPr>
          <p:cNvSpPr>
            <a:spLocks noGrp="1"/>
          </p:cNvSpPr>
          <p:nvPr/>
        </p:nvSpPr>
        <p:spPr>
          <a:xfrm>
            <a:off x="7848600" y="4981575"/>
            <a:ext cx="3657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9324A"/>
                </a:solidFill>
              </a:defRPr>
            </a:pPr>
            <a:r>
              <a:rPr sz="1275" b="0">
                <a:solidFill>
                  <a:srgbClr val="19324A"/>
                </a:solidFill>
              </a:rPr>
              <a:t>用数据集A建立统一评测标准</a:t>
            </a: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D7D34E0B-C9C8-4847-86B4-629A7F401A53}"/>
              </a:ext>
            </a:extLst>
          </p:cNvPr>
          <p:cNvSpPr>
            <a:spLocks noGrp="1"/>
          </p:cNvSpPr>
          <p:nvPr/>
        </p:nvSpPr>
        <p:spPr>
          <a:xfrm>
            <a:off x="7486650" y="5400675"/>
            <a:ext cx="4171950" cy="419100"/>
          </a:xfrm>
          <a:prstGeom prst="roundRect">
            <a:avLst>
              <a:gd name="adj" fmla="val 18182"/>
            </a:avLst>
          </a:prstGeom>
          <a:solidFill>
            <a:srgbClr val="F3F7FB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35EE7CA5-03C7-493C-8F17-30427C9709C1}"/>
              </a:ext>
            </a:extLst>
          </p:cNvPr>
          <p:cNvSpPr>
            <a:spLocks noGrp="1"/>
          </p:cNvSpPr>
          <p:nvPr/>
        </p:nvSpPr>
        <p:spPr>
          <a:xfrm>
            <a:off x="7658100" y="55626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82CE432-0BE3-4F97-BF2F-C3E3E50BD7F1}"/>
              </a:ext>
            </a:extLst>
          </p:cNvPr>
          <p:cNvSpPr>
            <a:spLocks noGrp="1"/>
          </p:cNvSpPr>
          <p:nvPr/>
        </p:nvSpPr>
        <p:spPr>
          <a:xfrm>
            <a:off x="7848600" y="5495925"/>
            <a:ext cx="3657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9324A"/>
                </a:solidFill>
              </a:defRPr>
            </a:pPr>
            <a:r>
              <a:rPr sz="1275" b="0">
                <a:solidFill>
                  <a:srgbClr val="19324A"/>
                </a:solidFill>
              </a:rPr>
              <a:t>每人认领一个可验证模块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82003044-D28C-4104-8149-8A6A78E0FE7A}"/>
              </a:ext>
            </a:extLst>
          </p:cNvPr>
          <p:cNvSpPr>
            <a:spLocks noGrp="1"/>
          </p:cNvSpPr>
          <p:nvPr/>
        </p:nvSpPr>
        <p:spPr>
          <a:xfrm>
            <a:off x="7486650" y="5915025"/>
            <a:ext cx="4171950" cy="419100"/>
          </a:xfrm>
          <a:prstGeom prst="roundRect">
            <a:avLst>
              <a:gd name="adj" fmla="val 18182"/>
            </a:avLst>
          </a:prstGeom>
          <a:solidFill>
            <a:srgbClr val="F3F7FB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280BBC72-A212-4B78-843D-D2FE5D668CFD}"/>
              </a:ext>
            </a:extLst>
          </p:cNvPr>
          <p:cNvSpPr>
            <a:spLocks noGrp="1"/>
          </p:cNvSpPr>
          <p:nvPr/>
        </p:nvSpPr>
        <p:spPr>
          <a:xfrm>
            <a:off x="7658100" y="60769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844358C-F27F-4DB1-AB80-27A54A59AD64}"/>
              </a:ext>
            </a:extLst>
          </p:cNvPr>
          <p:cNvSpPr>
            <a:spLocks noGrp="1"/>
          </p:cNvSpPr>
          <p:nvPr/>
        </p:nvSpPr>
        <p:spPr>
          <a:xfrm>
            <a:off x="7848600" y="6010275"/>
            <a:ext cx="3657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9324A"/>
                </a:solidFill>
              </a:defRPr>
            </a:pPr>
            <a:r>
              <a:rPr sz="1275" b="0">
                <a:solidFill>
                  <a:srgbClr val="19324A"/>
                </a:solidFill>
              </a:rPr>
              <a:t>用AI辅助，但结果必须可复现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F5B5247-CD7E-4EB0-90F3-44C00EC21930}"/>
              </a:ext>
            </a:extLst>
          </p:cNvPr>
          <p:cNvSpPr>
            <a:spLocks noGrp="1"/>
          </p:cNvSpPr>
          <p:nvPr/>
        </p:nvSpPr>
        <p:spPr>
          <a:xfrm>
            <a:off x="685800" y="61531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D7083"/>
                </a:solidFill>
              </a:defRPr>
            </a:pPr>
            <a:r>
              <a:rPr sz="1200" b="0">
                <a:solidFill>
                  <a:srgbClr val="5D7083"/>
                </a:solidFill>
              </a:rPr>
              <a:t>会议日期：2026 年 7 月 5 日</a:t>
            </a:r>
          </a:p>
        </p:txBody>
      </p:sp>
    </p:spTree>
    <p:extLst>
      <p:ext uri="{BB962C8B-B14F-4D97-AF65-F5344CB8AC3E}">
        <p14:creationId xmlns:p14="http://schemas.microsoft.com/office/powerpoint/2010/main" val="1022895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D4E5EA3-0411-4349-97E9-50871C60EF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173A5E"/>
          </a:solidFill>
          <a:ln w="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83D90907-2606-4287-9C04-34A29C67C888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38100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FAFC0B-BE66-4690-84C3-E61687AFCD56}"/>
              </a:ext>
            </a:extLst>
          </p:cNvPr>
          <p:cNvSpPr>
            <a:spLocks noGrp="1"/>
          </p:cNvSpPr>
          <p:nvPr/>
        </p:nvSpPr>
        <p:spPr>
          <a:xfrm>
            <a:off x="781050" y="409575"/>
            <a:ext cx="838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495F6"/>
                </a:solidFill>
              </a:defRPr>
            </a:pPr>
            <a:r>
              <a:rPr sz="1125" b="1">
                <a:solidFill>
                  <a:srgbClr val="1495F6"/>
                </a:solidFill>
              </a:rPr>
              <a:t>一、AI辅助开发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38C0BBD-4E1B-4C67-AF7E-242AD72D762F}"/>
              </a:ext>
            </a:extLst>
          </p:cNvPr>
          <p:cNvSpPr>
            <a:spLocks noGrp="1"/>
          </p:cNvSpPr>
          <p:nvPr/>
        </p:nvSpPr>
        <p:spPr>
          <a:xfrm>
            <a:off x="781050" y="657225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3A5E"/>
                </a:solidFill>
              </a:defRPr>
            </a:pPr>
            <a:r>
              <a:rPr sz="1875" b="1">
                <a:solidFill>
                  <a:srgbClr val="173A5E"/>
                </a:solidFill>
              </a:rPr>
              <a:t>现场把AI智能体部署到自己的项目工作流里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A43830D-CEB1-497D-9697-A8C700356800}"/>
              </a:ext>
            </a:extLst>
          </p:cNvPr>
          <p:cNvSpPr>
            <a:spLocks noGrp="1"/>
          </p:cNvSpPr>
          <p:nvPr/>
        </p:nvSpPr>
        <p:spPr>
          <a:xfrm>
            <a:off x="552450" y="1228725"/>
            <a:ext cx="11087100" cy="19050"/>
          </a:xfrm>
          <a:prstGeom prst="rect">
            <a:avLst/>
          </a:prstGeom>
          <a:solidFill>
            <a:srgbClr val="D9E3EE"/>
          </a:solidFill>
          <a:ln w="0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6DCD1D8-A8DB-4E49-86DF-C519C8910E6F}"/>
              </a:ext>
            </a:extLst>
          </p:cNvPr>
          <p:cNvSpPr>
            <a:spLocks noGrp="1"/>
          </p:cNvSpPr>
          <p:nvPr/>
        </p:nvSpPr>
        <p:spPr>
          <a:xfrm>
            <a:off x="10058400" y="9334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C7B8A"/>
                </a:solidFill>
              </a:defRPr>
            </a:pPr>
            <a:r>
              <a:rPr sz="900" b="0">
                <a:solidFill>
                  <a:srgbClr val="6C7B8A"/>
                </a:solidFill>
              </a:rPr>
              <a:t>01 / 13</a:t>
            </a: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030621" y="457200"/>
            <a:ext cx="2474659" cy="832104"/>
          </a:xfrm>
          <a:prstGeom prst="rect">
            <a:avLst/>
          </a:prstGeom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AE8D4B4E-1A33-4C81-B293-3665F1968219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1087100" cy="552450"/>
          </a:xfrm>
          <a:prstGeom prst="roundRect">
            <a:avLst>
              <a:gd name="adj" fmla="val 13793"/>
            </a:avLst>
          </a:prstGeom>
          <a:solidFill>
            <a:srgbClr val="173A5E"/>
          </a:solidFill>
          <a:ln w="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ABAF073-F5FD-4DF9-B1A9-3E8A5C179303}"/>
              </a:ext>
            </a:extLst>
          </p:cNvPr>
          <p:cNvSpPr>
            <a:spLocks noGrp="1"/>
          </p:cNvSpPr>
          <p:nvPr/>
        </p:nvSpPr>
        <p:spPr>
          <a:xfrm>
            <a:off x="819150" y="1628775"/>
            <a:ext cx="1047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目标不是让AI替我们参赛，而是让每个人都能用AI读代码、跑实验、改报错、写记录。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DDAE1346-99A1-4373-92FA-2E1CFD924B90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3333750" cy="27813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C232B0A-4209-4C1D-BA92-A56BED013799}"/>
              </a:ext>
            </a:extLst>
          </p:cNvPr>
          <p:cNvSpPr>
            <a:spLocks noGrp="1"/>
          </p:cNvSpPr>
          <p:nvPr/>
        </p:nvSpPr>
        <p:spPr>
          <a:xfrm>
            <a:off x="914400" y="24765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3A5E"/>
                </a:solidFill>
              </a:defRPr>
            </a:pPr>
            <a:r>
              <a:rPr sz="1500" b="1">
                <a:solidFill>
                  <a:srgbClr val="173A5E"/>
                </a:solidFill>
              </a:rPr>
              <a:t>有 Codex 的同学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F0547460-19A6-4C9A-B4AF-F8BD3812B7A1}"/>
              </a:ext>
            </a:extLst>
          </p:cNvPr>
          <p:cNvSpPr>
            <a:spLocks noGrp="1"/>
          </p:cNvSpPr>
          <p:nvPr/>
        </p:nvSpPr>
        <p:spPr>
          <a:xfrm>
            <a:off x="914400" y="2990850"/>
            <a:ext cx="2781300" cy="304800"/>
          </a:xfrm>
          <a:prstGeom prst="roundRect">
            <a:avLst>
              <a:gd name="adj" fmla="val 25000"/>
            </a:avLst>
          </a:prstGeom>
          <a:solidFill>
            <a:srgbClr val="F7FAFD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7F5640F3-5CC5-4846-92B3-406CFC3E2F9B}"/>
              </a:ext>
            </a:extLst>
          </p:cNvPr>
          <p:cNvSpPr>
            <a:spLocks noGrp="1"/>
          </p:cNvSpPr>
          <p:nvPr/>
        </p:nvSpPr>
        <p:spPr>
          <a:xfrm>
            <a:off x="1085850" y="30956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306A33E-4936-4044-847E-9FEBB8A703BE}"/>
              </a:ext>
            </a:extLst>
          </p:cNvPr>
          <p:cNvSpPr>
            <a:spLocks noGrp="1"/>
          </p:cNvSpPr>
          <p:nvPr/>
        </p:nvSpPr>
        <p:spPr>
          <a:xfrm>
            <a:off x="1276350" y="3086100"/>
            <a:ext cx="2266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9324A"/>
                </a:solidFill>
              </a:defRPr>
            </a:pPr>
            <a:r>
              <a:rPr sz="975" b="0">
                <a:solidFill>
                  <a:srgbClr val="19324A"/>
                </a:solidFill>
              </a:rPr>
              <a:t>打开项目文件夹 funasr_project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8049095C-18DC-43EB-A4D4-C12150726533}"/>
              </a:ext>
            </a:extLst>
          </p:cNvPr>
          <p:cNvSpPr>
            <a:spLocks noGrp="1"/>
          </p:cNvSpPr>
          <p:nvPr/>
        </p:nvSpPr>
        <p:spPr>
          <a:xfrm>
            <a:off x="914400" y="3409950"/>
            <a:ext cx="2781300" cy="304800"/>
          </a:xfrm>
          <a:prstGeom prst="roundRect">
            <a:avLst>
              <a:gd name="adj" fmla="val 25000"/>
            </a:avLst>
          </a:prstGeom>
          <a:solidFill>
            <a:srgbClr val="F7FAFD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D519523A-0CE2-4931-A49B-16FF057D487F}"/>
              </a:ext>
            </a:extLst>
          </p:cNvPr>
          <p:cNvSpPr>
            <a:spLocks noGrp="1"/>
          </p:cNvSpPr>
          <p:nvPr/>
        </p:nvSpPr>
        <p:spPr>
          <a:xfrm>
            <a:off x="1085850" y="35147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5A49ECA-2C4B-4ECA-8657-02B05E299856}"/>
              </a:ext>
            </a:extLst>
          </p:cNvPr>
          <p:cNvSpPr>
            <a:spLocks noGrp="1"/>
          </p:cNvSpPr>
          <p:nvPr/>
        </p:nvSpPr>
        <p:spPr>
          <a:xfrm>
            <a:off x="1276350" y="3505200"/>
            <a:ext cx="2266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9324A"/>
                </a:solidFill>
              </a:defRPr>
            </a:pPr>
            <a:r>
              <a:rPr sz="975" b="0">
                <a:solidFill>
                  <a:srgbClr val="19324A"/>
                </a:solidFill>
              </a:rPr>
              <a:t>让 Codex 先读 README 和核心脚本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7D51AD65-9684-4540-8A42-4FA63E0E1D86}"/>
              </a:ext>
            </a:extLst>
          </p:cNvPr>
          <p:cNvSpPr>
            <a:spLocks noGrp="1"/>
          </p:cNvSpPr>
          <p:nvPr/>
        </p:nvSpPr>
        <p:spPr>
          <a:xfrm>
            <a:off x="914400" y="3829050"/>
            <a:ext cx="2781300" cy="304800"/>
          </a:xfrm>
          <a:prstGeom prst="roundRect">
            <a:avLst>
              <a:gd name="adj" fmla="val 25000"/>
            </a:avLst>
          </a:prstGeom>
          <a:solidFill>
            <a:srgbClr val="F7FAFD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326BC3D4-A3C1-44BA-8A41-5BDF2F7791BA}"/>
              </a:ext>
            </a:extLst>
          </p:cNvPr>
          <p:cNvSpPr>
            <a:spLocks noGrp="1"/>
          </p:cNvSpPr>
          <p:nvPr/>
        </p:nvSpPr>
        <p:spPr>
          <a:xfrm>
            <a:off x="1085850" y="39338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B9C2E7B-9DCA-4830-859E-363DDF4B7873}"/>
              </a:ext>
            </a:extLst>
          </p:cNvPr>
          <p:cNvSpPr>
            <a:spLocks noGrp="1"/>
          </p:cNvSpPr>
          <p:nvPr/>
        </p:nvSpPr>
        <p:spPr>
          <a:xfrm>
            <a:off x="1276350" y="3924300"/>
            <a:ext cx="2266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9324A"/>
                </a:solidFill>
              </a:defRPr>
            </a:pPr>
            <a:r>
              <a:rPr sz="975" b="0">
                <a:solidFill>
                  <a:srgbClr val="19324A"/>
                </a:solidFill>
              </a:rPr>
              <a:t>明确任务：解释模块、运行评测、定位报错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12F15E96-C890-4BBF-B48B-D99E5810C2DF}"/>
              </a:ext>
            </a:extLst>
          </p:cNvPr>
          <p:cNvSpPr>
            <a:spLocks noGrp="1"/>
          </p:cNvSpPr>
          <p:nvPr/>
        </p:nvSpPr>
        <p:spPr>
          <a:xfrm>
            <a:off x="914400" y="4248150"/>
            <a:ext cx="2781300" cy="304800"/>
          </a:xfrm>
          <a:prstGeom prst="roundRect">
            <a:avLst>
              <a:gd name="adj" fmla="val 25000"/>
            </a:avLst>
          </a:prstGeom>
          <a:solidFill>
            <a:srgbClr val="F7FAFD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D26A4809-E828-4EBC-9F4B-AD6976BD4256}"/>
              </a:ext>
            </a:extLst>
          </p:cNvPr>
          <p:cNvSpPr>
            <a:spLocks noGrp="1"/>
          </p:cNvSpPr>
          <p:nvPr/>
        </p:nvSpPr>
        <p:spPr>
          <a:xfrm>
            <a:off x="1085850" y="43529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7E35DED-8D2B-43FA-B247-79DF33C96717}"/>
              </a:ext>
            </a:extLst>
          </p:cNvPr>
          <p:cNvSpPr>
            <a:spLocks noGrp="1"/>
          </p:cNvSpPr>
          <p:nvPr/>
        </p:nvSpPr>
        <p:spPr>
          <a:xfrm>
            <a:off x="1276350" y="4343400"/>
            <a:ext cx="2266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9324A"/>
                </a:solidFill>
              </a:defRPr>
            </a:pPr>
            <a:r>
              <a:rPr sz="975" b="0">
                <a:solidFill>
                  <a:srgbClr val="19324A"/>
                </a:solidFill>
              </a:rPr>
              <a:t>每次改动后要求它给出验证方式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804DE4FD-7E77-4034-BC30-DDB78982569E}"/>
              </a:ext>
            </a:extLst>
          </p:cNvPr>
          <p:cNvSpPr>
            <a:spLocks noGrp="1"/>
          </p:cNvSpPr>
          <p:nvPr/>
        </p:nvSpPr>
        <p:spPr>
          <a:xfrm>
            <a:off x="4429125" y="2266950"/>
            <a:ext cx="3333750" cy="27813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65293BF-483C-49D6-8FC9-14D6E25D1B9E}"/>
              </a:ext>
            </a:extLst>
          </p:cNvPr>
          <p:cNvSpPr>
            <a:spLocks noGrp="1"/>
          </p:cNvSpPr>
          <p:nvPr/>
        </p:nvSpPr>
        <p:spPr>
          <a:xfrm>
            <a:off x="4657725" y="24765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3A5E"/>
                </a:solidFill>
              </a:defRPr>
            </a:pPr>
            <a:r>
              <a:rPr sz="1500" b="1">
                <a:solidFill>
                  <a:srgbClr val="173A5E"/>
                </a:solidFill>
              </a:rPr>
              <a:t>没有 Codex 的同学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A37162C2-4751-4657-AD7C-3CC3DD38E64F}"/>
              </a:ext>
            </a:extLst>
          </p:cNvPr>
          <p:cNvSpPr>
            <a:spLocks noGrp="1"/>
          </p:cNvSpPr>
          <p:nvPr/>
        </p:nvSpPr>
        <p:spPr>
          <a:xfrm>
            <a:off x="4657725" y="2990850"/>
            <a:ext cx="2781300" cy="304800"/>
          </a:xfrm>
          <a:prstGeom prst="roundRect">
            <a:avLst>
              <a:gd name="adj" fmla="val 25000"/>
            </a:avLst>
          </a:prstGeom>
          <a:solidFill>
            <a:srgbClr val="F7FAFD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12233DB0-0032-406E-AC65-9FC2C19FF67A}"/>
              </a:ext>
            </a:extLst>
          </p:cNvPr>
          <p:cNvSpPr>
            <a:spLocks noGrp="1"/>
          </p:cNvSpPr>
          <p:nvPr/>
        </p:nvSpPr>
        <p:spPr>
          <a:xfrm>
            <a:off x="4829175" y="30956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F6ECF02-2011-4B09-A9E3-783F51ED37E6}"/>
              </a:ext>
            </a:extLst>
          </p:cNvPr>
          <p:cNvSpPr>
            <a:spLocks noGrp="1"/>
          </p:cNvSpPr>
          <p:nvPr/>
        </p:nvSpPr>
        <p:spPr>
          <a:xfrm>
            <a:off x="5019675" y="3086100"/>
            <a:ext cx="2266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9324A"/>
                </a:solidFill>
              </a:defRPr>
            </a:pPr>
            <a:r>
              <a:rPr sz="975" b="0">
                <a:solidFill>
                  <a:srgbClr val="19324A"/>
                </a:solidFill>
              </a:rPr>
              <a:t>安装 Trae，打开同一个项目文件夹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EFC9D546-0F18-4BA5-80FF-D049AB7F363B}"/>
              </a:ext>
            </a:extLst>
          </p:cNvPr>
          <p:cNvSpPr>
            <a:spLocks noGrp="1"/>
          </p:cNvSpPr>
          <p:nvPr/>
        </p:nvSpPr>
        <p:spPr>
          <a:xfrm>
            <a:off x="4657725" y="3409950"/>
            <a:ext cx="2781300" cy="304800"/>
          </a:xfrm>
          <a:prstGeom prst="roundRect">
            <a:avLst>
              <a:gd name="adj" fmla="val 25000"/>
            </a:avLst>
          </a:prstGeom>
          <a:solidFill>
            <a:srgbClr val="F7FAFD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2CB32871-CBC8-457A-9F2C-7BDC1C7C78C8}"/>
              </a:ext>
            </a:extLst>
          </p:cNvPr>
          <p:cNvSpPr>
            <a:spLocks noGrp="1"/>
          </p:cNvSpPr>
          <p:nvPr/>
        </p:nvSpPr>
        <p:spPr>
          <a:xfrm>
            <a:off x="4829175" y="35147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58EE48E-36BC-4B5D-A9C2-F386C80E0EF9}"/>
              </a:ext>
            </a:extLst>
          </p:cNvPr>
          <p:cNvSpPr>
            <a:spLocks noGrp="1"/>
          </p:cNvSpPr>
          <p:nvPr/>
        </p:nvSpPr>
        <p:spPr>
          <a:xfrm>
            <a:off x="5019675" y="3505200"/>
            <a:ext cx="2266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9324A"/>
                </a:solidFill>
              </a:defRPr>
            </a:pPr>
            <a:r>
              <a:rPr sz="975" b="0">
                <a:solidFill>
                  <a:srgbClr val="19324A"/>
                </a:solidFill>
              </a:rPr>
              <a:t>登录账号，在模型入口选择 DeepSeek v4-pro</a:t>
            </a: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C16469C9-BCA9-4DF7-8B83-58ED6A7AA30B}"/>
              </a:ext>
            </a:extLst>
          </p:cNvPr>
          <p:cNvSpPr>
            <a:spLocks noGrp="1"/>
          </p:cNvSpPr>
          <p:nvPr/>
        </p:nvSpPr>
        <p:spPr>
          <a:xfrm>
            <a:off x="4657725" y="3829050"/>
            <a:ext cx="2781300" cy="304800"/>
          </a:xfrm>
          <a:prstGeom prst="roundRect">
            <a:avLst>
              <a:gd name="adj" fmla="val 25000"/>
            </a:avLst>
          </a:prstGeom>
          <a:solidFill>
            <a:srgbClr val="F7FAFD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137B2A93-23C6-4D24-A4FF-F167BFD5F082}"/>
              </a:ext>
            </a:extLst>
          </p:cNvPr>
          <p:cNvSpPr>
            <a:spLocks noGrp="1"/>
          </p:cNvSpPr>
          <p:nvPr/>
        </p:nvSpPr>
        <p:spPr>
          <a:xfrm>
            <a:off x="4829175" y="39338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BB4F000-C37A-44D6-A2FA-4C1C2CBCD866}"/>
              </a:ext>
            </a:extLst>
          </p:cNvPr>
          <p:cNvSpPr>
            <a:spLocks noGrp="1"/>
          </p:cNvSpPr>
          <p:nvPr/>
        </p:nvSpPr>
        <p:spPr>
          <a:xfrm>
            <a:off x="5019675" y="3924300"/>
            <a:ext cx="2266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9324A"/>
                </a:solidFill>
              </a:defRPr>
            </a:pPr>
            <a:r>
              <a:rPr sz="975" b="0">
                <a:solidFill>
                  <a:srgbClr val="19324A"/>
                </a:solidFill>
              </a:rPr>
              <a:t>如额度不足，进入账户/订阅/充值页面开通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F49EEFEB-D262-4D14-938E-D096542E21DB}"/>
              </a:ext>
            </a:extLst>
          </p:cNvPr>
          <p:cNvSpPr>
            <a:spLocks noGrp="1"/>
          </p:cNvSpPr>
          <p:nvPr/>
        </p:nvSpPr>
        <p:spPr>
          <a:xfrm>
            <a:off x="4657725" y="4248150"/>
            <a:ext cx="2781300" cy="304800"/>
          </a:xfrm>
          <a:prstGeom prst="roundRect">
            <a:avLst>
              <a:gd name="adj" fmla="val 25000"/>
            </a:avLst>
          </a:prstGeom>
          <a:solidFill>
            <a:srgbClr val="F7FAFD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8D9540F4-ECAE-486B-ABAC-72F9E6B82E53}"/>
              </a:ext>
            </a:extLst>
          </p:cNvPr>
          <p:cNvSpPr>
            <a:spLocks noGrp="1"/>
          </p:cNvSpPr>
          <p:nvPr/>
        </p:nvSpPr>
        <p:spPr>
          <a:xfrm>
            <a:off x="4829175" y="43529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415A2B4-CCB1-455E-A761-7B7175AB045A}"/>
              </a:ext>
            </a:extLst>
          </p:cNvPr>
          <p:cNvSpPr>
            <a:spLocks noGrp="1"/>
          </p:cNvSpPr>
          <p:nvPr/>
        </p:nvSpPr>
        <p:spPr>
          <a:xfrm>
            <a:off x="5019675" y="4343400"/>
            <a:ext cx="2266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9324A"/>
                </a:solidFill>
              </a:defRPr>
            </a:pPr>
            <a:r>
              <a:rPr sz="975" b="0">
                <a:solidFill>
                  <a:srgbClr val="19324A"/>
                </a:solidFill>
              </a:rPr>
              <a:t>让 Trae 以项目上下文回答，不要只聊天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BB4E5A87-EDFE-4C86-A39B-B254AF5E883F}"/>
              </a:ext>
            </a:extLst>
          </p:cNvPr>
          <p:cNvSpPr>
            <a:spLocks noGrp="1"/>
          </p:cNvSpPr>
          <p:nvPr/>
        </p:nvSpPr>
        <p:spPr>
          <a:xfrm>
            <a:off x="8172450" y="2266950"/>
            <a:ext cx="3333750" cy="2781300"/>
          </a:xfrm>
          <a:prstGeom prst="roundRect">
            <a:avLst>
              <a:gd name="adj" fmla="val 2740"/>
            </a:avLst>
          </a:prstGeom>
          <a:solidFill>
            <a:srgbClr val="F7FAFD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2DB54A6-C30E-4227-BBF0-A867F63BEEB1}"/>
              </a:ext>
            </a:extLst>
          </p:cNvPr>
          <p:cNvSpPr>
            <a:spLocks noGrp="1"/>
          </p:cNvSpPr>
          <p:nvPr/>
        </p:nvSpPr>
        <p:spPr>
          <a:xfrm>
            <a:off x="8401050" y="24765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3A5E"/>
                </a:solidFill>
              </a:defRPr>
            </a:pPr>
            <a:r>
              <a:rPr sz="1500" b="1">
                <a:solidFill>
                  <a:srgbClr val="173A5E"/>
                </a:solidFill>
              </a:rPr>
              <a:t>现场演示流程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A73427B1-3F0C-4F3D-8ACF-CD49FF0F6FE1}"/>
              </a:ext>
            </a:extLst>
          </p:cNvPr>
          <p:cNvSpPr>
            <a:spLocks noGrp="1"/>
          </p:cNvSpPr>
          <p:nvPr/>
        </p:nvSpPr>
        <p:spPr>
          <a:xfrm>
            <a:off x="8401050" y="2990850"/>
            <a:ext cx="2781300" cy="304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2BE7296-D299-46A1-8C67-F58624C6BC47}"/>
              </a:ext>
            </a:extLst>
          </p:cNvPr>
          <p:cNvSpPr>
            <a:spLocks noGrp="1"/>
          </p:cNvSpPr>
          <p:nvPr/>
        </p:nvSpPr>
        <p:spPr>
          <a:xfrm>
            <a:off x="8572500" y="3086100"/>
            <a:ext cx="2438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9324A"/>
                </a:solidFill>
              </a:defRPr>
            </a:pPr>
            <a:r>
              <a:rPr sz="975" b="0">
                <a:solidFill>
                  <a:srgbClr val="19324A"/>
                </a:solidFill>
              </a:rPr>
              <a:t>1. 打开项目，让AI总结工程结构</a:t>
            </a:r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D1BC9E83-957B-4848-BFAB-B793D7EAF7BD}"/>
              </a:ext>
            </a:extLst>
          </p:cNvPr>
          <p:cNvSpPr>
            <a:spLocks noGrp="1"/>
          </p:cNvSpPr>
          <p:nvPr/>
        </p:nvSpPr>
        <p:spPr>
          <a:xfrm>
            <a:off x="8401050" y="3409950"/>
            <a:ext cx="2781300" cy="304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6D7B924-5D3C-4167-8E6C-588B107BBA03}"/>
              </a:ext>
            </a:extLst>
          </p:cNvPr>
          <p:cNvSpPr>
            <a:spLocks noGrp="1"/>
          </p:cNvSpPr>
          <p:nvPr/>
        </p:nvSpPr>
        <p:spPr>
          <a:xfrm>
            <a:off x="8572500" y="3505200"/>
            <a:ext cx="2438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9324A"/>
                </a:solidFill>
              </a:defRPr>
            </a:pPr>
            <a:r>
              <a:rPr sz="975" b="0">
                <a:solidFill>
                  <a:srgbClr val="19324A"/>
                </a:solidFill>
              </a:rPr>
              <a:t>2. 指定自己的模块和本周小任务</a:t>
            </a:r>
          </a:p>
        </p:txBody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6C0A6A79-8C88-441B-9366-7CC6DFF5BACA}"/>
              </a:ext>
            </a:extLst>
          </p:cNvPr>
          <p:cNvSpPr>
            <a:spLocks noGrp="1"/>
          </p:cNvSpPr>
          <p:nvPr/>
        </p:nvSpPr>
        <p:spPr>
          <a:xfrm>
            <a:off x="8401050" y="3829050"/>
            <a:ext cx="2781300" cy="304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7995A72-08CE-460B-BAC4-E35340968B7B}"/>
              </a:ext>
            </a:extLst>
          </p:cNvPr>
          <p:cNvSpPr>
            <a:spLocks noGrp="1"/>
          </p:cNvSpPr>
          <p:nvPr/>
        </p:nvSpPr>
        <p:spPr>
          <a:xfrm>
            <a:off x="8572500" y="3924300"/>
            <a:ext cx="2438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9324A"/>
                </a:solidFill>
              </a:defRPr>
            </a:pPr>
            <a:r>
              <a:rPr sz="975" b="0">
                <a:solidFill>
                  <a:srgbClr val="19324A"/>
                </a:solidFill>
              </a:rPr>
              <a:t>3. 让AI生成运行步骤或实验记录模板</a:t>
            </a:r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16745F55-1A9B-4A4D-9209-8952EE3FA18C}"/>
              </a:ext>
            </a:extLst>
          </p:cNvPr>
          <p:cNvSpPr>
            <a:spLocks noGrp="1"/>
          </p:cNvSpPr>
          <p:nvPr/>
        </p:nvSpPr>
        <p:spPr>
          <a:xfrm>
            <a:off x="8401050" y="4248150"/>
            <a:ext cx="2781300" cy="304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B22FEB2-72B2-4AA2-8C9B-BDB661E2C5C5}"/>
              </a:ext>
            </a:extLst>
          </p:cNvPr>
          <p:cNvSpPr>
            <a:spLocks noGrp="1"/>
          </p:cNvSpPr>
          <p:nvPr/>
        </p:nvSpPr>
        <p:spPr>
          <a:xfrm>
            <a:off x="8572500" y="4343400"/>
            <a:ext cx="2438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9324A"/>
                </a:solidFill>
              </a:defRPr>
            </a:pPr>
            <a:r>
              <a:rPr sz="975" b="0">
                <a:solidFill>
                  <a:srgbClr val="19324A"/>
                </a:solidFill>
              </a:rPr>
              <a:t>4. 自己执行，保存数据、脚本、参数和指标</a:t>
            </a:r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F0F20048-4493-48B5-BA8A-7F3116074D2B}"/>
              </a:ext>
            </a:extLst>
          </p:cNvPr>
          <p:cNvSpPr>
            <a:spLocks noGrp="1"/>
          </p:cNvSpPr>
          <p:nvPr/>
        </p:nvSpPr>
        <p:spPr>
          <a:xfrm>
            <a:off x="685800" y="5391150"/>
            <a:ext cx="10610850" cy="514350"/>
          </a:xfrm>
          <a:prstGeom prst="roundRect">
            <a:avLst>
              <a:gd name="adj" fmla="val 14815"/>
            </a:avLst>
          </a:prstGeom>
          <a:solidFill>
            <a:srgbClr val="EAF5FF"/>
          </a:solidFill>
          <a:ln w="9525">
            <a:solidFill>
              <a:srgbClr val="B9DB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5825C8D-309C-49F2-B5D9-FB7ACE0BAF47}"/>
              </a:ext>
            </a:extLst>
          </p:cNvPr>
          <p:cNvSpPr>
            <a:spLocks noGrp="1"/>
          </p:cNvSpPr>
          <p:nvPr/>
        </p:nvSpPr>
        <p:spPr>
          <a:xfrm>
            <a:off x="914400" y="5534025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3A5E"/>
                </a:solidFill>
              </a:defRPr>
            </a:pPr>
            <a:r>
              <a:rPr sz="1500" b="1">
                <a:solidFill>
                  <a:srgbClr val="173A5E"/>
                </a:solidFill>
              </a:rPr>
              <a:t>统一要求：AI可以给建议，但最终结论必须来自我们自己跑出来的实验结果。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F5E717F-12A9-4F18-80E9-4AD46A4270F4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647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B8DA0"/>
                </a:solidFill>
              </a:defRPr>
            </a:pPr>
            <a:r>
              <a:rPr sz="825" b="0">
                <a:solidFill>
                  <a:srgbClr val="7B8DA0"/>
                </a:solidFill>
              </a:rPr>
              <a:t>国家级大学生创新创业训练计划 · 创新训练项目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46AD13CC-1889-40DC-9489-6B86C02BA95B}"/>
              </a:ext>
            </a:extLst>
          </p:cNvPr>
          <p:cNvSpPr>
            <a:spLocks noGrp="1"/>
          </p:cNvSpPr>
          <p:nvPr/>
        </p:nvSpPr>
        <p:spPr>
          <a:xfrm>
            <a:off x="8896350" y="6515100"/>
            <a:ext cx="274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DA0"/>
                </a:solidFill>
              </a:defRPr>
            </a:pPr>
            <a:r>
              <a:rPr sz="825" b="0">
                <a:solidFill>
                  <a:srgbClr val="7B8DA0"/>
                </a:solidFill>
              </a:rPr>
              <a:t>杭州电子科技大学</a:t>
            </a:r>
          </a:p>
        </p:txBody>
      </p:sp>
    </p:spTree>
    <p:extLst>
      <p:ext uri="{BB962C8B-B14F-4D97-AF65-F5344CB8AC3E}">
        <p14:creationId xmlns:p14="http://schemas.microsoft.com/office/powerpoint/2010/main" val="1045629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AF006D2-3302-4CCE-98DB-D9354F2CA2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173A5E"/>
          </a:solidFill>
          <a:ln w="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D332A023-6C5C-49AD-8A1F-4FE5E47C7B72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38100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49161A3-8BE0-4BDB-9240-540715627E49}"/>
              </a:ext>
            </a:extLst>
          </p:cNvPr>
          <p:cNvSpPr>
            <a:spLocks noGrp="1"/>
          </p:cNvSpPr>
          <p:nvPr/>
        </p:nvSpPr>
        <p:spPr>
          <a:xfrm>
            <a:off x="781050" y="409575"/>
            <a:ext cx="838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495F6"/>
                </a:solidFill>
              </a:defRPr>
            </a:pPr>
            <a:r>
              <a:rPr sz="1125" b="1">
                <a:solidFill>
                  <a:srgbClr val="1495F6"/>
                </a:solidFill>
              </a:rPr>
              <a:t>二、Trae 与 DeepSeek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B3DA723-B353-4DDC-8B8A-1286082AD8AA}"/>
              </a:ext>
            </a:extLst>
          </p:cNvPr>
          <p:cNvSpPr>
            <a:spLocks noGrp="1"/>
          </p:cNvSpPr>
          <p:nvPr/>
        </p:nvSpPr>
        <p:spPr>
          <a:xfrm>
            <a:off x="781050" y="657225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3A5E"/>
                </a:solidFill>
              </a:defRPr>
            </a:pPr>
            <a:r>
              <a:rPr sz="1875" b="1">
                <a:solidFill>
                  <a:srgbClr val="173A5E"/>
                </a:solidFill>
              </a:rPr>
              <a:t>没有 Codex 的同学用 Trae 接入 DeepSeek v4-pro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1556034-A5FE-4225-8811-E25F01DA7978}"/>
              </a:ext>
            </a:extLst>
          </p:cNvPr>
          <p:cNvSpPr>
            <a:spLocks noGrp="1"/>
          </p:cNvSpPr>
          <p:nvPr/>
        </p:nvSpPr>
        <p:spPr>
          <a:xfrm>
            <a:off x="552450" y="1228725"/>
            <a:ext cx="11087100" cy="19050"/>
          </a:xfrm>
          <a:prstGeom prst="rect">
            <a:avLst/>
          </a:prstGeom>
          <a:solidFill>
            <a:srgbClr val="D9E3EE"/>
          </a:solidFill>
          <a:ln w="0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44A8D3F-038B-4E12-A9B3-95F3E82F857E}"/>
              </a:ext>
            </a:extLst>
          </p:cNvPr>
          <p:cNvSpPr>
            <a:spLocks noGrp="1"/>
          </p:cNvSpPr>
          <p:nvPr/>
        </p:nvSpPr>
        <p:spPr>
          <a:xfrm>
            <a:off x="10058400" y="9334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C7B8A"/>
                </a:solidFill>
              </a:defRPr>
            </a:pPr>
            <a:r>
              <a:rPr sz="900" b="0">
                <a:solidFill>
                  <a:srgbClr val="6C7B8A"/>
                </a:solidFill>
              </a:rPr>
              <a:t>02 / 13</a:t>
            </a:r>
          </a:p>
        </p:txBody>
      </p:sp>
      <p:pic>
        <p:nvPicPr>
          <p:cNvPr id="79" name="图片 7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030621" y="457200"/>
            <a:ext cx="2474659" cy="832104"/>
          </a:xfrm>
          <a:prstGeom prst="rect">
            <a:avLst/>
          </a:prstGeom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5BB3A409-2B76-4A70-B054-367149D95F1D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1087100" cy="495300"/>
          </a:xfrm>
          <a:prstGeom prst="roundRect">
            <a:avLst>
              <a:gd name="adj" fmla="val 15385"/>
            </a:avLst>
          </a:prstGeom>
          <a:solidFill>
            <a:srgbClr val="173A5E"/>
          </a:solidFill>
          <a:ln w="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FAA10C8-02C4-434E-81B0-19F9F057E49C}"/>
              </a:ext>
            </a:extLst>
          </p:cNvPr>
          <p:cNvSpPr>
            <a:spLocks noGrp="1"/>
          </p:cNvSpPr>
          <p:nvPr/>
        </p:nvSpPr>
        <p:spPr>
          <a:xfrm>
            <a:off x="819150" y="1600200"/>
            <a:ext cx="1047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现场只做一件事：让每个人的电脑都能打开项目，并让AI基于项目文件开始工作。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318F08CE-46AB-430D-AAB7-91D9A151F7C1}"/>
              </a:ext>
            </a:extLst>
          </p:cNvPr>
          <p:cNvSpPr>
            <a:spLocks noGrp="1"/>
          </p:cNvSpPr>
          <p:nvPr/>
        </p:nvSpPr>
        <p:spPr>
          <a:xfrm>
            <a:off x="685800" y="2228850"/>
            <a:ext cx="2524125" cy="295275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2502AC2-BBCD-45D5-9D30-C3DC44AB4C29}"/>
              </a:ext>
            </a:extLst>
          </p:cNvPr>
          <p:cNvSpPr>
            <a:spLocks noGrp="1"/>
          </p:cNvSpPr>
          <p:nvPr/>
        </p:nvSpPr>
        <p:spPr>
          <a:xfrm>
            <a:off x="914400" y="24193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73A5E"/>
                </a:solidFill>
              </a:defRPr>
            </a:pPr>
            <a:r>
              <a:rPr sz="1425" b="1">
                <a:solidFill>
                  <a:srgbClr val="173A5E"/>
                </a:solidFill>
              </a:rPr>
              <a:t>官方下载入口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5F4BDF16-F6EF-4B36-B7C0-CF37087EC66F}"/>
              </a:ext>
            </a:extLst>
          </p:cNvPr>
          <p:cNvSpPr>
            <a:spLocks noGrp="1"/>
          </p:cNvSpPr>
          <p:nvPr/>
        </p:nvSpPr>
        <p:spPr>
          <a:xfrm>
            <a:off x="876300" y="2914650"/>
            <a:ext cx="2381250" cy="323850"/>
          </a:xfrm>
          <a:prstGeom prst="roundRect">
            <a:avLst>
              <a:gd name="adj" fmla="val 23529"/>
            </a:avLst>
          </a:prstGeom>
          <a:solidFill>
            <a:srgbClr val="F7FAFD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362E83C6-8D9B-423B-A803-E48D12FE2246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EFD9F16-3B66-4FB4-BCB7-AD2E90ECFA4C}"/>
              </a:ext>
            </a:extLst>
          </p:cNvPr>
          <p:cNvSpPr>
            <a:spLocks noGrp="1"/>
          </p:cNvSpPr>
          <p:nvPr/>
        </p:nvSpPr>
        <p:spPr>
          <a:xfrm>
            <a:off x="1238250" y="3009900"/>
            <a:ext cx="1866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9324A"/>
                </a:solidFill>
              </a:defRPr>
            </a:pPr>
            <a:r>
              <a:rPr sz="900" b="0">
                <a:solidFill>
                  <a:srgbClr val="19324A"/>
                </a:solidFill>
              </a:rPr>
              <a:t>Trae 国内站：trae.cn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339BF3ED-1BED-44C1-8B25-3804C71C7F90}"/>
              </a:ext>
            </a:extLst>
          </p:cNvPr>
          <p:cNvSpPr>
            <a:spLocks noGrp="1"/>
          </p:cNvSpPr>
          <p:nvPr/>
        </p:nvSpPr>
        <p:spPr>
          <a:xfrm>
            <a:off x="876300" y="3371850"/>
            <a:ext cx="2381250" cy="323850"/>
          </a:xfrm>
          <a:prstGeom prst="roundRect">
            <a:avLst>
              <a:gd name="adj" fmla="val 23529"/>
            </a:avLst>
          </a:prstGeom>
          <a:solidFill>
            <a:srgbClr val="F7FAFD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E1DF09B0-890E-451D-B942-48C22450BB29}"/>
              </a:ext>
            </a:extLst>
          </p:cNvPr>
          <p:cNvSpPr>
            <a:spLocks noGrp="1"/>
          </p:cNvSpPr>
          <p:nvPr/>
        </p:nvSpPr>
        <p:spPr>
          <a:xfrm>
            <a:off x="1047750" y="34861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30AEB5A-456E-43F6-ACE7-DC491BC99E0D}"/>
              </a:ext>
            </a:extLst>
          </p:cNvPr>
          <p:cNvSpPr>
            <a:spLocks noGrp="1"/>
          </p:cNvSpPr>
          <p:nvPr/>
        </p:nvSpPr>
        <p:spPr>
          <a:xfrm>
            <a:off x="1238250" y="3467100"/>
            <a:ext cx="1866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9324A"/>
                </a:solidFill>
              </a:defRPr>
            </a:pPr>
            <a:r>
              <a:rPr sz="900" b="0">
                <a:solidFill>
                  <a:srgbClr val="19324A"/>
                </a:solidFill>
              </a:rPr>
              <a:t>Trae 国际站：trae.ai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538C7D0E-6E1F-47E5-8F1C-9942B611F1EF}"/>
              </a:ext>
            </a:extLst>
          </p:cNvPr>
          <p:cNvSpPr>
            <a:spLocks noGrp="1"/>
          </p:cNvSpPr>
          <p:nvPr/>
        </p:nvSpPr>
        <p:spPr>
          <a:xfrm>
            <a:off x="876300" y="3829050"/>
            <a:ext cx="2381250" cy="323850"/>
          </a:xfrm>
          <a:prstGeom prst="roundRect">
            <a:avLst>
              <a:gd name="adj" fmla="val 23529"/>
            </a:avLst>
          </a:prstGeom>
          <a:solidFill>
            <a:srgbClr val="F7FAFD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DDCBCD17-A541-45E0-9544-FAD1DCACB4A8}"/>
              </a:ext>
            </a:extLst>
          </p:cNvPr>
          <p:cNvSpPr>
            <a:spLocks noGrp="1"/>
          </p:cNvSpPr>
          <p:nvPr/>
        </p:nvSpPr>
        <p:spPr>
          <a:xfrm>
            <a:off x="1047750" y="39433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58F7A47-20B4-489A-AA27-A2CB152EB307}"/>
              </a:ext>
            </a:extLst>
          </p:cNvPr>
          <p:cNvSpPr>
            <a:spLocks noGrp="1"/>
          </p:cNvSpPr>
          <p:nvPr/>
        </p:nvSpPr>
        <p:spPr>
          <a:xfrm>
            <a:off x="1238250" y="3924300"/>
            <a:ext cx="1866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9324A"/>
                </a:solidFill>
              </a:defRPr>
            </a:pPr>
            <a:r>
              <a:rPr sz="900" b="0">
                <a:solidFill>
                  <a:srgbClr val="19324A"/>
                </a:solidFill>
              </a:rPr>
              <a:t>API 文档：api-docs.deepseek.com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BA45D309-8538-42E9-83B6-11B292C93C22}"/>
              </a:ext>
            </a:extLst>
          </p:cNvPr>
          <p:cNvSpPr>
            <a:spLocks noGrp="1"/>
          </p:cNvSpPr>
          <p:nvPr/>
        </p:nvSpPr>
        <p:spPr>
          <a:xfrm>
            <a:off x="876300" y="4286250"/>
            <a:ext cx="2381250" cy="323850"/>
          </a:xfrm>
          <a:prstGeom prst="roundRect">
            <a:avLst>
              <a:gd name="adj" fmla="val 23529"/>
            </a:avLst>
          </a:prstGeom>
          <a:solidFill>
            <a:srgbClr val="F7FAFD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99D03C70-E388-4574-B92D-2AAE0D7BABF4}"/>
              </a:ext>
            </a:extLst>
          </p:cNvPr>
          <p:cNvSpPr>
            <a:spLocks noGrp="1"/>
          </p:cNvSpPr>
          <p:nvPr/>
        </p:nvSpPr>
        <p:spPr>
          <a:xfrm>
            <a:off x="1047750" y="44005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A4C71B3-123F-499E-ACF4-62002D6F4DEC}"/>
              </a:ext>
            </a:extLst>
          </p:cNvPr>
          <p:cNvSpPr>
            <a:spLocks noGrp="1"/>
          </p:cNvSpPr>
          <p:nvPr/>
        </p:nvSpPr>
        <p:spPr>
          <a:xfrm>
            <a:off x="1238250" y="4381500"/>
            <a:ext cx="1866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9324A"/>
                </a:solidFill>
              </a:defRPr>
            </a:pPr>
            <a:r>
              <a:rPr sz="900" b="0">
                <a:solidFill>
                  <a:srgbClr val="19324A"/>
                </a:solidFill>
              </a:rPr>
              <a:t>控制台：platform.deepseek.com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72C443F5-0357-423F-A303-1CE7F41FF65D}"/>
              </a:ext>
            </a:extLst>
          </p:cNvPr>
          <p:cNvSpPr>
            <a:spLocks noGrp="1"/>
          </p:cNvSpPr>
          <p:nvPr/>
        </p:nvSpPr>
        <p:spPr>
          <a:xfrm>
            <a:off x="3486150" y="2228850"/>
            <a:ext cx="2524125" cy="2952750"/>
          </a:xfrm>
          <a:prstGeom prst="roundRect">
            <a:avLst>
              <a:gd name="adj" fmla="val 3019"/>
            </a:avLst>
          </a:prstGeom>
          <a:solidFill>
            <a:srgbClr val="F7FAFD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932E08A-494F-4DA2-B6FB-6DCC80BB4E70}"/>
              </a:ext>
            </a:extLst>
          </p:cNvPr>
          <p:cNvSpPr>
            <a:spLocks noGrp="1"/>
          </p:cNvSpPr>
          <p:nvPr/>
        </p:nvSpPr>
        <p:spPr>
          <a:xfrm>
            <a:off x="3714750" y="24193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73A5E"/>
                </a:solidFill>
              </a:defRPr>
            </a:pPr>
            <a:r>
              <a:rPr sz="1425" b="1">
                <a:solidFill>
                  <a:srgbClr val="173A5E"/>
                </a:solidFill>
              </a:rPr>
              <a:t>充值与 API Key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FE53CEE1-C955-4DD9-8BD0-21BD1DBF2FDA}"/>
              </a:ext>
            </a:extLst>
          </p:cNvPr>
          <p:cNvSpPr>
            <a:spLocks noGrp="1"/>
          </p:cNvSpPr>
          <p:nvPr/>
        </p:nvSpPr>
        <p:spPr>
          <a:xfrm>
            <a:off x="3714750" y="2914650"/>
            <a:ext cx="200025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671B75C5-5083-48F8-A739-B7A1D922662C}"/>
              </a:ext>
            </a:extLst>
          </p:cNvPr>
          <p:cNvSpPr>
            <a:spLocks noGrp="1"/>
          </p:cNvSpPr>
          <p:nvPr/>
        </p:nvSpPr>
        <p:spPr>
          <a:xfrm>
            <a:off x="3886200" y="30289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7E06425-D470-49FC-AA76-B02462FD68DE}"/>
              </a:ext>
            </a:extLst>
          </p:cNvPr>
          <p:cNvSpPr>
            <a:spLocks noGrp="1"/>
          </p:cNvSpPr>
          <p:nvPr/>
        </p:nvSpPr>
        <p:spPr>
          <a:xfrm>
            <a:off x="4076700" y="3009900"/>
            <a:ext cx="1485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9324A"/>
                </a:solidFill>
              </a:defRPr>
            </a:pPr>
            <a:r>
              <a:rPr sz="900" b="0">
                <a:solidFill>
                  <a:srgbClr val="19324A"/>
                </a:solidFill>
              </a:rPr>
              <a:t>登录 DeepSeek Platform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7733EED3-95C5-472F-ABB6-DF65A4AC9866}"/>
              </a:ext>
            </a:extLst>
          </p:cNvPr>
          <p:cNvSpPr>
            <a:spLocks noGrp="1"/>
          </p:cNvSpPr>
          <p:nvPr/>
        </p:nvSpPr>
        <p:spPr>
          <a:xfrm>
            <a:off x="3714750" y="3371850"/>
            <a:ext cx="200025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B961FAE8-4F0C-4B03-950B-720B8B51E258}"/>
              </a:ext>
            </a:extLst>
          </p:cNvPr>
          <p:cNvSpPr>
            <a:spLocks noGrp="1"/>
          </p:cNvSpPr>
          <p:nvPr/>
        </p:nvSpPr>
        <p:spPr>
          <a:xfrm>
            <a:off x="3886200" y="34861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436A907-2862-4638-9679-FE67F08E6F13}"/>
              </a:ext>
            </a:extLst>
          </p:cNvPr>
          <p:cNvSpPr>
            <a:spLocks noGrp="1"/>
          </p:cNvSpPr>
          <p:nvPr/>
        </p:nvSpPr>
        <p:spPr>
          <a:xfrm>
            <a:off x="4076700" y="3467100"/>
            <a:ext cx="1485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9324A"/>
                </a:solidFill>
              </a:defRPr>
            </a:pPr>
            <a:r>
              <a:rPr sz="900" b="0">
                <a:solidFill>
                  <a:srgbClr val="19324A"/>
                </a:solidFill>
              </a:rPr>
              <a:t>进入充值/余额页面，按需小额充值</a:t>
            </a: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8AA74B85-8F63-4747-B137-B3B8DDAE3E31}"/>
              </a:ext>
            </a:extLst>
          </p:cNvPr>
          <p:cNvSpPr>
            <a:spLocks noGrp="1"/>
          </p:cNvSpPr>
          <p:nvPr/>
        </p:nvSpPr>
        <p:spPr>
          <a:xfrm>
            <a:off x="3714750" y="3829050"/>
            <a:ext cx="200025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0AFA7062-E1CD-476E-8BED-C072E4A1327A}"/>
              </a:ext>
            </a:extLst>
          </p:cNvPr>
          <p:cNvSpPr>
            <a:spLocks noGrp="1"/>
          </p:cNvSpPr>
          <p:nvPr/>
        </p:nvSpPr>
        <p:spPr>
          <a:xfrm>
            <a:off x="3886200" y="39433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1021E0C-AF0D-4DEF-9A3C-36E73264063A}"/>
              </a:ext>
            </a:extLst>
          </p:cNvPr>
          <p:cNvSpPr>
            <a:spLocks noGrp="1"/>
          </p:cNvSpPr>
          <p:nvPr/>
        </p:nvSpPr>
        <p:spPr>
          <a:xfrm>
            <a:off x="4076700" y="3924300"/>
            <a:ext cx="1485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9324A"/>
                </a:solidFill>
              </a:defRPr>
            </a:pPr>
            <a:r>
              <a:rPr sz="900" b="0">
                <a:solidFill>
                  <a:srgbClr val="19324A"/>
                </a:solidFill>
              </a:rPr>
              <a:t>进入 API Keys，新建并复制 Key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456334E3-23CF-4B05-B911-FCC64B74E0A2}"/>
              </a:ext>
            </a:extLst>
          </p:cNvPr>
          <p:cNvSpPr>
            <a:spLocks noGrp="1"/>
          </p:cNvSpPr>
          <p:nvPr/>
        </p:nvSpPr>
        <p:spPr>
          <a:xfrm>
            <a:off x="3714750" y="4286250"/>
            <a:ext cx="200025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8D81FCE0-E2CC-45E3-AEC0-071B1BE36909}"/>
              </a:ext>
            </a:extLst>
          </p:cNvPr>
          <p:cNvSpPr>
            <a:spLocks noGrp="1"/>
          </p:cNvSpPr>
          <p:nvPr/>
        </p:nvSpPr>
        <p:spPr>
          <a:xfrm>
            <a:off x="3886200" y="44005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34A2342-EBC8-4601-9C9F-6348A7E65BA3}"/>
              </a:ext>
            </a:extLst>
          </p:cNvPr>
          <p:cNvSpPr>
            <a:spLocks noGrp="1"/>
          </p:cNvSpPr>
          <p:nvPr/>
        </p:nvSpPr>
        <p:spPr>
          <a:xfrm>
            <a:off x="4076700" y="4381500"/>
            <a:ext cx="1485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9324A"/>
                </a:solidFill>
              </a:defRPr>
            </a:pPr>
            <a:r>
              <a:rPr sz="900" b="0">
                <a:solidFill>
                  <a:srgbClr val="19324A"/>
                </a:solidFill>
              </a:rPr>
              <a:t>不要把 API Key 发到群里或写进代码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27D6FB4A-F787-4B12-B8E0-FA6D2DEF9E3A}"/>
              </a:ext>
            </a:extLst>
          </p:cNvPr>
          <p:cNvSpPr>
            <a:spLocks noGrp="1"/>
          </p:cNvSpPr>
          <p:nvPr/>
        </p:nvSpPr>
        <p:spPr>
          <a:xfrm>
            <a:off x="6286500" y="2228850"/>
            <a:ext cx="2524125" cy="295275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F6B47CC-F914-4633-B0CB-DFFE1D4F8D11}"/>
              </a:ext>
            </a:extLst>
          </p:cNvPr>
          <p:cNvSpPr>
            <a:spLocks noGrp="1"/>
          </p:cNvSpPr>
          <p:nvPr/>
        </p:nvSpPr>
        <p:spPr>
          <a:xfrm>
            <a:off x="6515100" y="24193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73A5E"/>
                </a:solidFill>
              </a:defRPr>
            </a:pPr>
            <a:r>
              <a:rPr sz="1425" b="1">
                <a:solidFill>
                  <a:srgbClr val="173A5E"/>
                </a:solidFill>
              </a:rPr>
              <a:t>接入 Trae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F9F306B4-7006-443B-BF29-AD418827EF44}"/>
              </a:ext>
            </a:extLst>
          </p:cNvPr>
          <p:cNvSpPr>
            <a:spLocks noGrp="1"/>
          </p:cNvSpPr>
          <p:nvPr/>
        </p:nvSpPr>
        <p:spPr>
          <a:xfrm>
            <a:off x="6515100" y="2838450"/>
            <a:ext cx="2000250" cy="285750"/>
          </a:xfrm>
          <a:prstGeom prst="roundRect">
            <a:avLst>
              <a:gd name="adj" fmla="val 26667"/>
            </a:avLst>
          </a:prstGeom>
          <a:solidFill>
            <a:srgbClr val="F7FAFD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21060E67-6608-42EB-9DC0-5713975A36DD}"/>
              </a:ext>
            </a:extLst>
          </p:cNvPr>
          <p:cNvSpPr>
            <a:spLocks noGrp="1"/>
          </p:cNvSpPr>
          <p:nvPr/>
        </p:nvSpPr>
        <p:spPr>
          <a:xfrm>
            <a:off x="6686550" y="29337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2AA84D1-8E86-4891-8176-A942FB953B79}"/>
              </a:ext>
            </a:extLst>
          </p:cNvPr>
          <p:cNvSpPr>
            <a:spLocks noGrp="1"/>
          </p:cNvSpPr>
          <p:nvPr/>
        </p:nvSpPr>
        <p:spPr>
          <a:xfrm>
            <a:off x="6877050" y="2933700"/>
            <a:ext cx="14859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9324A"/>
                </a:solidFill>
              </a:defRPr>
            </a:pPr>
            <a:r>
              <a:rPr sz="900" b="0">
                <a:solidFill>
                  <a:srgbClr val="19324A"/>
                </a:solidFill>
              </a:rPr>
              <a:t>打开 Trae 设置 / 模型设置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E98ABB93-90AA-4E95-BA07-7D1CA65D983D}"/>
              </a:ext>
            </a:extLst>
          </p:cNvPr>
          <p:cNvSpPr>
            <a:spLocks noGrp="1"/>
          </p:cNvSpPr>
          <p:nvPr/>
        </p:nvSpPr>
        <p:spPr>
          <a:xfrm>
            <a:off x="6515100" y="3238500"/>
            <a:ext cx="2000250" cy="285750"/>
          </a:xfrm>
          <a:prstGeom prst="roundRect">
            <a:avLst>
              <a:gd name="adj" fmla="val 26667"/>
            </a:avLst>
          </a:prstGeom>
          <a:solidFill>
            <a:srgbClr val="F7FAFD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C29F9FB7-854B-4E23-B0B8-923D2AE143C7}"/>
              </a:ext>
            </a:extLst>
          </p:cNvPr>
          <p:cNvSpPr>
            <a:spLocks noGrp="1"/>
          </p:cNvSpPr>
          <p:nvPr/>
        </p:nvSpPr>
        <p:spPr>
          <a:xfrm>
            <a:off x="6686550" y="33337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1BE9E5F-C950-4685-A1C7-668E2BF02AF4}"/>
              </a:ext>
            </a:extLst>
          </p:cNvPr>
          <p:cNvSpPr>
            <a:spLocks noGrp="1"/>
          </p:cNvSpPr>
          <p:nvPr/>
        </p:nvSpPr>
        <p:spPr>
          <a:xfrm>
            <a:off x="6877050" y="3333750"/>
            <a:ext cx="14859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9324A"/>
                </a:solidFill>
              </a:defRPr>
            </a:pPr>
            <a:r>
              <a:rPr sz="900" b="0">
                <a:solidFill>
                  <a:srgbClr val="19324A"/>
                </a:solidFill>
              </a:rPr>
              <a:t>选择自定义 OpenAI兼容接口</a:t>
            </a:r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C20F3150-667A-48F5-9D06-0A4A6ABBE1FA}"/>
              </a:ext>
            </a:extLst>
          </p:cNvPr>
          <p:cNvSpPr>
            <a:spLocks noGrp="1"/>
          </p:cNvSpPr>
          <p:nvPr/>
        </p:nvSpPr>
        <p:spPr>
          <a:xfrm>
            <a:off x="6515100" y="3638550"/>
            <a:ext cx="2000250" cy="285750"/>
          </a:xfrm>
          <a:prstGeom prst="roundRect">
            <a:avLst>
              <a:gd name="adj" fmla="val 26667"/>
            </a:avLst>
          </a:prstGeom>
          <a:solidFill>
            <a:srgbClr val="F7FAFD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D0BFF899-7229-4A99-9898-7CE6B6442574}"/>
              </a:ext>
            </a:extLst>
          </p:cNvPr>
          <p:cNvSpPr>
            <a:spLocks noGrp="1"/>
          </p:cNvSpPr>
          <p:nvPr/>
        </p:nvSpPr>
        <p:spPr>
          <a:xfrm>
            <a:off x="6686550" y="37338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19AAF33-1619-48B7-A931-8E4E62263163}"/>
              </a:ext>
            </a:extLst>
          </p:cNvPr>
          <p:cNvSpPr>
            <a:spLocks noGrp="1"/>
          </p:cNvSpPr>
          <p:nvPr/>
        </p:nvSpPr>
        <p:spPr>
          <a:xfrm>
            <a:off x="6877050" y="3733800"/>
            <a:ext cx="14859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9324A"/>
                </a:solidFill>
              </a:defRPr>
            </a:pPr>
            <a:r>
              <a:rPr sz="900" b="0">
                <a:solidFill>
                  <a:srgbClr val="19324A"/>
                </a:solidFill>
              </a:rPr>
              <a:t>Base URL: api.deepseek.com</a:t>
            </a:r>
          </a:p>
        </p:txBody>
      </p:sp>
      <p:sp>
        <p:nvSpPr>
          <p:cNvPr id="49" name="圆角矩形 48">
            <a:extLst>
              <a:ext uri="{FF2B5EF4-FFF2-40B4-BE49-F238E27FC236}">
                <a16:creationId xmlns:a16="http://schemas.microsoft.com/office/drawing/2014/main" id="{7D81EAA2-30B7-4856-B59E-F9E8A7B8FF82}"/>
              </a:ext>
            </a:extLst>
          </p:cNvPr>
          <p:cNvSpPr>
            <a:spLocks noGrp="1"/>
          </p:cNvSpPr>
          <p:nvPr/>
        </p:nvSpPr>
        <p:spPr>
          <a:xfrm>
            <a:off x="6515100" y="4038600"/>
            <a:ext cx="2000250" cy="285750"/>
          </a:xfrm>
          <a:prstGeom prst="roundRect">
            <a:avLst>
              <a:gd name="adj" fmla="val 26667"/>
            </a:avLst>
          </a:prstGeom>
          <a:solidFill>
            <a:srgbClr val="F7FAFD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圆角矩形 49">
            <a:extLst>
              <a:ext uri="{FF2B5EF4-FFF2-40B4-BE49-F238E27FC236}">
                <a16:creationId xmlns:a16="http://schemas.microsoft.com/office/drawing/2014/main" id="{C3CACEBD-C1A8-48BE-8506-A300BEFF5D9B}"/>
              </a:ext>
            </a:extLst>
          </p:cNvPr>
          <p:cNvSpPr>
            <a:spLocks noGrp="1"/>
          </p:cNvSpPr>
          <p:nvPr/>
        </p:nvSpPr>
        <p:spPr>
          <a:xfrm>
            <a:off x="6686550" y="41338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C081809-9995-4952-BCCF-176C93BA7C84}"/>
              </a:ext>
            </a:extLst>
          </p:cNvPr>
          <p:cNvSpPr>
            <a:spLocks noGrp="1"/>
          </p:cNvSpPr>
          <p:nvPr/>
        </p:nvSpPr>
        <p:spPr>
          <a:xfrm>
            <a:off x="6877050" y="4133850"/>
            <a:ext cx="14859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9324A"/>
                </a:solidFill>
              </a:defRPr>
            </a:pPr>
            <a:r>
              <a:rPr sz="900" b="0">
                <a:solidFill>
                  <a:srgbClr val="19324A"/>
                </a:solidFill>
              </a:rPr>
              <a:t>Model: deepseek-v4-pro</a:t>
            </a:r>
          </a:p>
        </p:txBody>
      </p:sp>
      <p:sp>
        <p:nvSpPr>
          <p:cNvPr id="52" name="圆角矩形 51">
            <a:extLst>
              <a:ext uri="{FF2B5EF4-FFF2-40B4-BE49-F238E27FC236}">
                <a16:creationId xmlns:a16="http://schemas.microsoft.com/office/drawing/2014/main" id="{2E3EF15A-1579-47BE-A8B2-7451459A0D23}"/>
              </a:ext>
            </a:extLst>
          </p:cNvPr>
          <p:cNvSpPr>
            <a:spLocks noGrp="1"/>
          </p:cNvSpPr>
          <p:nvPr/>
        </p:nvSpPr>
        <p:spPr>
          <a:xfrm>
            <a:off x="6515100" y="4438650"/>
            <a:ext cx="2000250" cy="285750"/>
          </a:xfrm>
          <a:prstGeom prst="roundRect">
            <a:avLst>
              <a:gd name="adj" fmla="val 26667"/>
            </a:avLst>
          </a:prstGeom>
          <a:solidFill>
            <a:srgbClr val="F7FAFD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3347D48E-5BDB-4697-B067-CD3E87659DA5}"/>
              </a:ext>
            </a:extLst>
          </p:cNvPr>
          <p:cNvSpPr>
            <a:spLocks noGrp="1"/>
          </p:cNvSpPr>
          <p:nvPr/>
        </p:nvSpPr>
        <p:spPr>
          <a:xfrm>
            <a:off x="6686550" y="45339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6957C3D-B3E9-4515-8AD3-FC6203528D87}"/>
              </a:ext>
            </a:extLst>
          </p:cNvPr>
          <p:cNvSpPr>
            <a:spLocks noGrp="1"/>
          </p:cNvSpPr>
          <p:nvPr/>
        </p:nvSpPr>
        <p:spPr>
          <a:xfrm>
            <a:off x="6877050" y="4533900"/>
            <a:ext cx="14859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9324A"/>
                </a:solidFill>
              </a:defRPr>
            </a:pPr>
            <a:r>
              <a:rPr sz="900" b="0">
                <a:solidFill>
                  <a:srgbClr val="19324A"/>
                </a:solidFill>
              </a:rPr>
              <a:t>API Key 填入上方复制的 Key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8975170E-695B-4056-8342-2AED1FF28304}"/>
              </a:ext>
            </a:extLst>
          </p:cNvPr>
          <p:cNvSpPr>
            <a:spLocks noGrp="1"/>
          </p:cNvSpPr>
          <p:nvPr/>
        </p:nvSpPr>
        <p:spPr>
          <a:xfrm>
            <a:off x="9086850" y="2228850"/>
            <a:ext cx="2524125" cy="2952750"/>
          </a:xfrm>
          <a:prstGeom prst="roundRect">
            <a:avLst>
              <a:gd name="adj" fmla="val 3019"/>
            </a:avLst>
          </a:prstGeom>
          <a:solidFill>
            <a:srgbClr val="F7FAFD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EF10F61-CDE5-4D4B-A225-6A3F66C0115E}"/>
              </a:ext>
            </a:extLst>
          </p:cNvPr>
          <p:cNvSpPr>
            <a:spLocks noGrp="1"/>
          </p:cNvSpPr>
          <p:nvPr/>
        </p:nvSpPr>
        <p:spPr>
          <a:xfrm>
            <a:off x="9315450" y="24193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73A5E"/>
                </a:solidFill>
              </a:defRPr>
            </a:pPr>
            <a:r>
              <a:rPr sz="1425" b="1">
                <a:solidFill>
                  <a:srgbClr val="173A5E"/>
                </a:solidFill>
              </a:rPr>
              <a:t>减少排队</a:t>
            </a:r>
          </a:p>
        </p:txBody>
      </p:sp>
      <p:sp>
        <p:nvSpPr>
          <p:cNvPr id="57" name="圆角矩形 56">
            <a:extLst>
              <a:ext uri="{FF2B5EF4-FFF2-40B4-BE49-F238E27FC236}">
                <a16:creationId xmlns:a16="http://schemas.microsoft.com/office/drawing/2014/main" id="{B36C329C-7CB8-43F9-93FA-2499873419CB}"/>
              </a:ext>
            </a:extLst>
          </p:cNvPr>
          <p:cNvSpPr>
            <a:spLocks noGrp="1"/>
          </p:cNvSpPr>
          <p:nvPr/>
        </p:nvSpPr>
        <p:spPr>
          <a:xfrm>
            <a:off x="9315450" y="2914650"/>
            <a:ext cx="200025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圆角矩形 57">
            <a:extLst>
              <a:ext uri="{FF2B5EF4-FFF2-40B4-BE49-F238E27FC236}">
                <a16:creationId xmlns:a16="http://schemas.microsoft.com/office/drawing/2014/main" id="{6F64BEEC-1BB1-4C1B-A2A2-B575190B4C26}"/>
              </a:ext>
            </a:extLst>
          </p:cNvPr>
          <p:cNvSpPr>
            <a:spLocks noGrp="1"/>
          </p:cNvSpPr>
          <p:nvPr/>
        </p:nvSpPr>
        <p:spPr>
          <a:xfrm>
            <a:off x="9486900" y="30289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F17945EB-C578-40D6-A607-FD2908CAA6F6}"/>
              </a:ext>
            </a:extLst>
          </p:cNvPr>
          <p:cNvSpPr>
            <a:spLocks noGrp="1"/>
          </p:cNvSpPr>
          <p:nvPr/>
        </p:nvSpPr>
        <p:spPr>
          <a:xfrm>
            <a:off x="9677400" y="3009900"/>
            <a:ext cx="1485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9324A"/>
                </a:solidFill>
              </a:defRPr>
            </a:pPr>
            <a:r>
              <a:rPr sz="900" b="0">
                <a:solidFill>
                  <a:srgbClr val="19324A"/>
                </a:solidFill>
              </a:rPr>
              <a:t>Trae可开通“速通”权益减少等待</a:t>
            </a:r>
          </a:p>
        </p:txBody>
      </p:sp>
      <p:sp>
        <p:nvSpPr>
          <p:cNvPr id="60" name="圆角矩形 59">
            <a:extLst>
              <a:ext uri="{FF2B5EF4-FFF2-40B4-BE49-F238E27FC236}">
                <a16:creationId xmlns:a16="http://schemas.microsoft.com/office/drawing/2014/main" id="{6608974E-DB3A-427F-8504-377C74472982}"/>
              </a:ext>
            </a:extLst>
          </p:cNvPr>
          <p:cNvSpPr>
            <a:spLocks noGrp="1"/>
          </p:cNvSpPr>
          <p:nvPr/>
        </p:nvSpPr>
        <p:spPr>
          <a:xfrm>
            <a:off x="9315450" y="3371850"/>
            <a:ext cx="200025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圆角矩形 60">
            <a:extLst>
              <a:ext uri="{FF2B5EF4-FFF2-40B4-BE49-F238E27FC236}">
                <a16:creationId xmlns:a16="http://schemas.microsoft.com/office/drawing/2014/main" id="{FAEACBF5-65FF-426D-BEE1-40F0F7E68C6D}"/>
              </a:ext>
            </a:extLst>
          </p:cNvPr>
          <p:cNvSpPr>
            <a:spLocks noGrp="1"/>
          </p:cNvSpPr>
          <p:nvPr/>
        </p:nvSpPr>
        <p:spPr>
          <a:xfrm>
            <a:off x="9486900" y="34861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FC0C75B7-C322-40AA-8FEB-49FD9CBA495B}"/>
              </a:ext>
            </a:extLst>
          </p:cNvPr>
          <p:cNvSpPr>
            <a:spLocks noGrp="1"/>
          </p:cNvSpPr>
          <p:nvPr/>
        </p:nvSpPr>
        <p:spPr>
          <a:xfrm>
            <a:off x="9677400" y="3467100"/>
            <a:ext cx="1485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9324A"/>
                </a:solidFill>
              </a:defRPr>
            </a:pPr>
            <a:r>
              <a:rPr sz="900" b="0">
                <a:solidFill>
                  <a:srgbClr val="19324A"/>
                </a:solidFill>
              </a:rPr>
              <a:t>轻任务优先用 v4-flash，重任务再用 v4-pro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56FC1A63-0C79-49DC-AE6A-AC55879C70E8}"/>
              </a:ext>
            </a:extLst>
          </p:cNvPr>
          <p:cNvSpPr>
            <a:spLocks noGrp="1"/>
          </p:cNvSpPr>
          <p:nvPr/>
        </p:nvSpPr>
        <p:spPr>
          <a:xfrm>
            <a:off x="9315450" y="3829050"/>
            <a:ext cx="200025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圆角矩形 63">
            <a:extLst>
              <a:ext uri="{FF2B5EF4-FFF2-40B4-BE49-F238E27FC236}">
                <a16:creationId xmlns:a16="http://schemas.microsoft.com/office/drawing/2014/main" id="{41561D51-F83A-42D3-8924-48B4F6E8E21C}"/>
              </a:ext>
            </a:extLst>
          </p:cNvPr>
          <p:cNvSpPr>
            <a:spLocks noGrp="1"/>
          </p:cNvSpPr>
          <p:nvPr/>
        </p:nvSpPr>
        <p:spPr>
          <a:xfrm>
            <a:off x="9486900" y="39433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B2088FAD-4588-48BE-9C5E-76598A23E477}"/>
              </a:ext>
            </a:extLst>
          </p:cNvPr>
          <p:cNvSpPr>
            <a:spLocks noGrp="1"/>
          </p:cNvSpPr>
          <p:nvPr/>
        </p:nvSpPr>
        <p:spPr>
          <a:xfrm>
            <a:off x="9677400" y="3924300"/>
            <a:ext cx="1485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9324A"/>
                </a:solidFill>
              </a:defRPr>
            </a:pPr>
            <a:r>
              <a:rPr sz="900" b="0">
                <a:solidFill>
                  <a:srgbClr val="19324A"/>
                </a:solidFill>
              </a:rPr>
              <a:t>避开晚间和截止前集中使用时段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BE5F1C05-738D-4676-9C5C-2A24F39BE59A}"/>
              </a:ext>
            </a:extLst>
          </p:cNvPr>
          <p:cNvSpPr>
            <a:spLocks noGrp="1"/>
          </p:cNvSpPr>
          <p:nvPr/>
        </p:nvSpPr>
        <p:spPr>
          <a:xfrm>
            <a:off x="9315450" y="4286250"/>
            <a:ext cx="200025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圆角矩形 66">
            <a:extLst>
              <a:ext uri="{FF2B5EF4-FFF2-40B4-BE49-F238E27FC236}">
                <a16:creationId xmlns:a16="http://schemas.microsoft.com/office/drawing/2014/main" id="{78262A97-E5A0-40C4-9753-DC72EC51F9DD}"/>
              </a:ext>
            </a:extLst>
          </p:cNvPr>
          <p:cNvSpPr>
            <a:spLocks noGrp="1"/>
          </p:cNvSpPr>
          <p:nvPr/>
        </p:nvSpPr>
        <p:spPr>
          <a:xfrm>
            <a:off x="9486900" y="44005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52A263DD-657F-46DD-926B-6FB9C69C303A}"/>
              </a:ext>
            </a:extLst>
          </p:cNvPr>
          <p:cNvSpPr>
            <a:spLocks noGrp="1"/>
          </p:cNvSpPr>
          <p:nvPr/>
        </p:nvSpPr>
        <p:spPr>
          <a:xfrm>
            <a:off x="9677400" y="4381500"/>
            <a:ext cx="1485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9324A"/>
                </a:solidFill>
              </a:defRPr>
            </a:pPr>
            <a:r>
              <a:rPr sz="900" b="0">
                <a:solidFill>
                  <a:srgbClr val="19324A"/>
                </a:solidFill>
              </a:rPr>
              <a:t>把大任务拆小，失败后错峰重试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CDB281AF-3882-42E0-A99A-87D582606D8D}"/>
              </a:ext>
            </a:extLst>
          </p:cNvPr>
          <p:cNvSpPr>
            <a:spLocks noGrp="1"/>
          </p:cNvSpPr>
          <p:nvPr/>
        </p:nvSpPr>
        <p:spPr>
          <a:xfrm>
            <a:off x="685800" y="5562600"/>
            <a:ext cx="10610850" cy="438150"/>
          </a:xfrm>
          <a:prstGeom prst="roundRect">
            <a:avLst>
              <a:gd name="adj" fmla="val 17391"/>
            </a:avLst>
          </a:prstGeom>
          <a:solidFill>
            <a:srgbClr val="EAF5FF"/>
          </a:solidFill>
          <a:ln w="9525">
            <a:solidFill>
              <a:srgbClr val="B9DB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BA6F2BC8-78B8-45E2-A2C6-55011765D5FC}"/>
              </a:ext>
            </a:extLst>
          </p:cNvPr>
          <p:cNvSpPr>
            <a:spLocks noGrp="1"/>
          </p:cNvSpPr>
          <p:nvPr/>
        </p:nvSpPr>
        <p:spPr>
          <a:xfrm>
            <a:off x="914400" y="5686425"/>
            <a:ext cx="1009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3A5E"/>
                </a:solidFill>
              </a:defRPr>
            </a:pPr>
            <a:r>
              <a:rPr sz="1275" b="1">
                <a:solidFill>
                  <a:srgbClr val="173A5E"/>
                </a:solidFill>
              </a:rPr>
              <a:t>现场提醒：充值金额和套餐以官网实时页面为准；API Key 只在本机保存，泄露后要立刻删除重建。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F476F745-0F4B-440A-AEA2-99EADAA317DC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647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B8DA0"/>
                </a:solidFill>
              </a:defRPr>
            </a:pPr>
            <a:r>
              <a:rPr sz="825" b="0">
                <a:solidFill>
                  <a:srgbClr val="7B8DA0"/>
                </a:solidFill>
              </a:rPr>
              <a:t>国家级大学生创新创业训练计划 · 创新训练项目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F5D70E7E-19B7-4FDB-88E5-FBC0D4E42EB7}"/>
              </a:ext>
            </a:extLst>
          </p:cNvPr>
          <p:cNvSpPr>
            <a:spLocks noGrp="1"/>
          </p:cNvSpPr>
          <p:nvPr/>
        </p:nvSpPr>
        <p:spPr>
          <a:xfrm>
            <a:off x="8896350" y="6515100"/>
            <a:ext cx="274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DA0"/>
                </a:solidFill>
              </a:defRPr>
            </a:pPr>
            <a:r>
              <a:rPr sz="825" b="0">
                <a:solidFill>
                  <a:srgbClr val="7B8DA0"/>
                </a:solidFill>
              </a:rPr>
              <a:t>杭州电子科技大学</a:t>
            </a:r>
          </a:p>
        </p:txBody>
      </p:sp>
    </p:spTree>
    <p:extLst>
      <p:ext uri="{BB962C8B-B14F-4D97-AF65-F5344CB8AC3E}">
        <p14:creationId xmlns:p14="http://schemas.microsoft.com/office/powerpoint/2010/main" val="393339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384F3465-9C64-4212-AB1E-6C3BD21FEA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173A5E"/>
          </a:solidFill>
          <a:ln w="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058C32B4-2C67-4493-A93A-FD25153D7646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38100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C23FD0-61AB-4658-8B2D-827294618170}"/>
              </a:ext>
            </a:extLst>
          </p:cNvPr>
          <p:cNvSpPr>
            <a:spLocks noGrp="1"/>
          </p:cNvSpPr>
          <p:nvPr/>
        </p:nvSpPr>
        <p:spPr>
          <a:xfrm>
            <a:off x="781050" y="409575"/>
            <a:ext cx="838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495F6"/>
                </a:solidFill>
              </a:defRPr>
            </a:pPr>
            <a:r>
              <a:rPr sz="1125" b="1">
                <a:solidFill>
                  <a:srgbClr val="1495F6"/>
                </a:solidFill>
              </a:rPr>
              <a:t>三、结果记录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45833F9-2D4F-4891-BE96-D54AE0E08392}"/>
              </a:ext>
            </a:extLst>
          </p:cNvPr>
          <p:cNvSpPr>
            <a:spLocks noGrp="1"/>
          </p:cNvSpPr>
          <p:nvPr/>
        </p:nvSpPr>
        <p:spPr>
          <a:xfrm>
            <a:off x="781050" y="657225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3A5E"/>
                </a:solidFill>
              </a:defRPr>
            </a:pPr>
            <a:r>
              <a:rPr sz="1875" b="1">
                <a:solidFill>
                  <a:srgbClr val="173A5E"/>
                </a:solidFill>
              </a:rPr>
              <a:t>结果可复现，就是别人按你的记录也能跑出来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73D7DCC-F1C0-4D6F-8028-9124EC54FA24}"/>
              </a:ext>
            </a:extLst>
          </p:cNvPr>
          <p:cNvSpPr>
            <a:spLocks noGrp="1"/>
          </p:cNvSpPr>
          <p:nvPr/>
        </p:nvSpPr>
        <p:spPr>
          <a:xfrm>
            <a:off x="552450" y="1228725"/>
            <a:ext cx="11087100" cy="19050"/>
          </a:xfrm>
          <a:prstGeom prst="rect">
            <a:avLst/>
          </a:prstGeom>
          <a:solidFill>
            <a:srgbClr val="D9E3EE"/>
          </a:solidFill>
          <a:ln w="0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5056D6-0C2F-4FC9-8707-93FCF117A1C1}"/>
              </a:ext>
            </a:extLst>
          </p:cNvPr>
          <p:cNvSpPr>
            <a:spLocks noGrp="1"/>
          </p:cNvSpPr>
          <p:nvPr/>
        </p:nvSpPr>
        <p:spPr>
          <a:xfrm>
            <a:off x="10058400" y="9334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C7B8A"/>
                </a:solidFill>
              </a:defRPr>
            </a:pPr>
            <a:r>
              <a:rPr sz="900" b="0">
                <a:solidFill>
                  <a:srgbClr val="6C7B8A"/>
                </a:solidFill>
              </a:rPr>
              <a:t>03 / 13</a:t>
            </a: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030621" y="457200"/>
            <a:ext cx="2474659" cy="832104"/>
          </a:xfrm>
          <a:prstGeom prst="rect">
            <a:avLst/>
          </a:prstGeom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2F38E86D-A30B-418B-818F-816E5CD38385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1087100" cy="552450"/>
          </a:xfrm>
          <a:prstGeom prst="roundRect">
            <a:avLst>
              <a:gd name="adj" fmla="val 13793"/>
            </a:avLst>
          </a:prstGeom>
          <a:solidFill>
            <a:srgbClr val="173A5E"/>
          </a:solidFill>
          <a:ln w="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A64C32-1C9C-4CE6-973D-E21DCDE30DBB}"/>
              </a:ext>
            </a:extLst>
          </p:cNvPr>
          <p:cNvSpPr>
            <a:spLocks noGrp="1"/>
          </p:cNvSpPr>
          <p:nvPr/>
        </p:nvSpPr>
        <p:spPr>
          <a:xfrm>
            <a:off x="819150" y="1628775"/>
            <a:ext cx="1047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不要只说“效果变好了”，要说明这个结果是怎么得到的。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254FC3C8-EADE-4C02-8B97-CA273F261BFE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4810125" cy="25717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BFF32CF-4816-42D8-87B5-CEAE2A031CA9}"/>
              </a:ext>
            </a:extLst>
          </p:cNvPr>
          <p:cNvSpPr>
            <a:spLocks noGrp="1"/>
          </p:cNvSpPr>
          <p:nvPr/>
        </p:nvSpPr>
        <p:spPr>
          <a:xfrm>
            <a:off x="914400" y="2571750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3A5E"/>
                </a:solidFill>
              </a:defRPr>
            </a:pPr>
            <a:r>
              <a:rPr sz="1500" b="1">
                <a:solidFill>
                  <a:srgbClr val="173A5E"/>
                </a:solidFill>
              </a:rPr>
              <a:t>不够可复现的说法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798FC94-08B7-44F7-83DB-4F3EB86378E9}"/>
              </a:ext>
            </a:extLst>
          </p:cNvPr>
          <p:cNvSpPr>
            <a:spLocks noGrp="1"/>
          </p:cNvSpPr>
          <p:nvPr/>
        </p:nvSpPr>
        <p:spPr>
          <a:xfrm>
            <a:off x="1047750" y="321945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495F6"/>
                </a:solidFill>
              </a:defRPr>
            </a:pPr>
            <a:r>
              <a:rPr sz="1725" b="1">
                <a:solidFill>
                  <a:srgbClr val="1495F6"/>
                </a:solidFill>
              </a:rPr>
              <a:t>“我把阈值调了一下，拒识率好像变高了。”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E7E2BD2-FBFC-4764-B000-A67A08C88FC9}"/>
              </a:ext>
            </a:extLst>
          </p:cNvPr>
          <p:cNvSpPr>
            <a:spLocks noGrp="1"/>
          </p:cNvSpPr>
          <p:nvPr/>
        </p:nvSpPr>
        <p:spPr>
          <a:xfrm>
            <a:off x="914400" y="4057650"/>
            <a:ext cx="4191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D7083"/>
                </a:solidFill>
              </a:defRPr>
            </a:pPr>
            <a:r>
              <a:rPr sz="1275" b="0">
                <a:solidFill>
                  <a:srgbClr val="5D7083"/>
                </a:solidFill>
              </a:rPr>
              <a:t>问题：没有数据范围、脚本、参数和指标，其他人无法判断这个结论是否可靠。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F69A35A6-E09E-41A9-A48C-7FB6893A5721}"/>
              </a:ext>
            </a:extLst>
          </p:cNvPr>
          <p:cNvSpPr>
            <a:spLocks noGrp="1"/>
          </p:cNvSpPr>
          <p:nvPr/>
        </p:nvSpPr>
        <p:spPr>
          <a:xfrm>
            <a:off x="5962650" y="2343150"/>
            <a:ext cx="5334000" cy="2571750"/>
          </a:xfrm>
          <a:prstGeom prst="roundRect">
            <a:avLst>
              <a:gd name="adj" fmla="val 2963"/>
            </a:avLst>
          </a:prstGeom>
          <a:solidFill>
            <a:srgbClr val="F7FAFD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406858E-530E-4719-B302-08A9C1BABC17}"/>
              </a:ext>
            </a:extLst>
          </p:cNvPr>
          <p:cNvSpPr>
            <a:spLocks noGrp="1"/>
          </p:cNvSpPr>
          <p:nvPr/>
        </p:nvSpPr>
        <p:spPr>
          <a:xfrm>
            <a:off x="6191250" y="257175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3A5E"/>
                </a:solidFill>
              </a:defRPr>
            </a:pPr>
            <a:r>
              <a:rPr sz="1500" b="1">
                <a:solidFill>
                  <a:srgbClr val="173A5E"/>
                </a:solidFill>
              </a:rPr>
              <a:t>可复现的记录方式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168433BB-5902-4A39-81FD-5293FFD8C5EC}"/>
              </a:ext>
            </a:extLst>
          </p:cNvPr>
          <p:cNvSpPr>
            <a:spLocks noGrp="1"/>
          </p:cNvSpPr>
          <p:nvPr/>
        </p:nvSpPr>
        <p:spPr>
          <a:xfrm>
            <a:off x="6191250" y="3048000"/>
            <a:ext cx="47625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079960B3-24FC-4544-9194-C9C92605CCA9}"/>
              </a:ext>
            </a:extLst>
          </p:cNvPr>
          <p:cNvSpPr>
            <a:spLocks noGrp="1"/>
          </p:cNvSpPr>
          <p:nvPr/>
        </p:nvSpPr>
        <p:spPr>
          <a:xfrm>
            <a:off x="6362700" y="31432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9507A34-C59D-4B6E-A31A-1794054E3652}"/>
              </a:ext>
            </a:extLst>
          </p:cNvPr>
          <p:cNvSpPr>
            <a:spLocks noGrp="1"/>
          </p:cNvSpPr>
          <p:nvPr/>
        </p:nvSpPr>
        <p:spPr>
          <a:xfrm>
            <a:off x="6553200" y="3143250"/>
            <a:ext cx="4248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9324A"/>
                </a:solidFill>
              </a:defRPr>
            </a:pPr>
            <a:r>
              <a:rPr sz="1050" b="0">
                <a:solidFill>
                  <a:srgbClr val="19324A"/>
                </a:solidFill>
              </a:rPr>
              <a:t>使用数据：datasetA 前100条 pos + 前100条 neg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1F349952-197E-4B85-9EC1-52CA0BB51AC8}"/>
              </a:ext>
            </a:extLst>
          </p:cNvPr>
          <p:cNvSpPr>
            <a:spLocks noGrp="1"/>
          </p:cNvSpPr>
          <p:nvPr/>
        </p:nvSpPr>
        <p:spPr>
          <a:xfrm>
            <a:off x="6191250" y="3448050"/>
            <a:ext cx="47625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A904E88B-71D6-415A-873F-4521CF8156A0}"/>
              </a:ext>
            </a:extLst>
          </p:cNvPr>
          <p:cNvSpPr>
            <a:spLocks noGrp="1"/>
          </p:cNvSpPr>
          <p:nvPr/>
        </p:nvSpPr>
        <p:spPr>
          <a:xfrm>
            <a:off x="6362700" y="35433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400871E-BEFF-4E50-80AC-6D8C1968EE55}"/>
              </a:ext>
            </a:extLst>
          </p:cNvPr>
          <p:cNvSpPr>
            <a:spLocks noGrp="1"/>
          </p:cNvSpPr>
          <p:nvPr/>
        </p:nvSpPr>
        <p:spPr>
          <a:xfrm>
            <a:off x="6553200" y="3543300"/>
            <a:ext cx="4248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9324A"/>
                </a:solidFill>
              </a:defRPr>
            </a:pPr>
            <a:r>
              <a:rPr sz="1050" b="0">
                <a:solidFill>
                  <a:srgbClr val="19324A"/>
                </a:solidFill>
              </a:rPr>
              <a:t>运行脚本：eval_datasetA.py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A1D33B50-2234-49AA-A52F-A9AB6DE10B13}"/>
              </a:ext>
            </a:extLst>
          </p:cNvPr>
          <p:cNvSpPr>
            <a:spLocks noGrp="1"/>
          </p:cNvSpPr>
          <p:nvPr/>
        </p:nvSpPr>
        <p:spPr>
          <a:xfrm>
            <a:off x="6191250" y="3848100"/>
            <a:ext cx="47625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B3D934F7-540F-4FED-B322-D637ABB616B8}"/>
              </a:ext>
            </a:extLst>
          </p:cNvPr>
          <p:cNvSpPr>
            <a:spLocks noGrp="1"/>
          </p:cNvSpPr>
          <p:nvPr/>
        </p:nvSpPr>
        <p:spPr>
          <a:xfrm>
            <a:off x="6362700" y="39433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12860F3-9FD2-4ED7-BA2F-C643EC7691CC}"/>
              </a:ext>
            </a:extLst>
          </p:cNvPr>
          <p:cNvSpPr>
            <a:spLocks noGrp="1"/>
          </p:cNvSpPr>
          <p:nvPr/>
        </p:nvSpPr>
        <p:spPr>
          <a:xfrm>
            <a:off x="6553200" y="3943350"/>
            <a:ext cx="4248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9324A"/>
                </a:solidFill>
              </a:defRPr>
            </a:pPr>
            <a:r>
              <a:rPr sz="1050" b="0">
                <a:solidFill>
                  <a:srgbClr val="19324A"/>
                </a:solidFill>
              </a:rPr>
              <a:t>参数设置：声纹阈值 0.38，开启文本纠错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25BAA031-984C-46EF-B8E0-59EB933B457E}"/>
              </a:ext>
            </a:extLst>
          </p:cNvPr>
          <p:cNvSpPr>
            <a:spLocks noGrp="1"/>
          </p:cNvSpPr>
          <p:nvPr/>
        </p:nvSpPr>
        <p:spPr>
          <a:xfrm>
            <a:off x="6191250" y="4248150"/>
            <a:ext cx="47625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99475AE6-734E-4F23-95DD-68823DBC9640}"/>
              </a:ext>
            </a:extLst>
          </p:cNvPr>
          <p:cNvSpPr>
            <a:spLocks noGrp="1"/>
          </p:cNvSpPr>
          <p:nvPr/>
        </p:nvSpPr>
        <p:spPr>
          <a:xfrm>
            <a:off x="6362700" y="43434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5AAA713-168A-46FA-9F09-DFE0861B4788}"/>
              </a:ext>
            </a:extLst>
          </p:cNvPr>
          <p:cNvSpPr>
            <a:spLocks noGrp="1"/>
          </p:cNvSpPr>
          <p:nvPr/>
        </p:nvSpPr>
        <p:spPr>
          <a:xfrm>
            <a:off x="6553200" y="4343400"/>
            <a:ext cx="42481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9324A"/>
                </a:solidFill>
              </a:defRPr>
            </a:pPr>
            <a:r>
              <a:rPr sz="1050" b="0">
                <a:solidFill>
                  <a:srgbClr val="19324A"/>
                </a:solidFill>
              </a:rPr>
              <a:t>输出指标：CER、RR、总耗时和错误样本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DE0A5B39-5932-4C59-971C-2B912876083F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10610850" cy="514350"/>
          </a:xfrm>
          <a:prstGeom prst="roundRect">
            <a:avLst>
              <a:gd name="adj" fmla="val 14815"/>
            </a:avLst>
          </a:prstGeom>
          <a:solidFill>
            <a:srgbClr val="EAF5FF"/>
          </a:solidFill>
          <a:ln w="9525">
            <a:solidFill>
              <a:srgbClr val="B9DB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B6294DE-9BFD-4127-B573-03348993A331}"/>
              </a:ext>
            </a:extLst>
          </p:cNvPr>
          <p:cNvSpPr>
            <a:spLocks noGrp="1"/>
          </p:cNvSpPr>
          <p:nvPr/>
        </p:nvSpPr>
        <p:spPr>
          <a:xfrm>
            <a:off x="914400" y="5476875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3A5E"/>
                </a:solidFill>
              </a:defRPr>
            </a:pPr>
            <a:r>
              <a:rPr sz="1500" b="1">
                <a:solidFill>
                  <a:srgbClr val="173A5E"/>
                </a:solidFill>
              </a:rPr>
              <a:t>一句话解释：你不是只告诉大家结果，而是告诉大家“怎么得到这个结果”。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5BD5CD5-EDA2-46EF-AB2E-0513B78EE6A6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647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B8DA0"/>
                </a:solidFill>
              </a:defRPr>
            </a:pPr>
            <a:r>
              <a:rPr sz="825" b="0">
                <a:solidFill>
                  <a:srgbClr val="7B8DA0"/>
                </a:solidFill>
              </a:rPr>
              <a:t>国家级大学生创新创业训练计划 · 创新训练项目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F43F3E9-EAAF-4E60-BA6B-BDE08A0D4D08}"/>
              </a:ext>
            </a:extLst>
          </p:cNvPr>
          <p:cNvSpPr>
            <a:spLocks noGrp="1"/>
          </p:cNvSpPr>
          <p:nvPr/>
        </p:nvSpPr>
        <p:spPr>
          <a:xfrm>
            <a:off x="8896350" y="6515100"/>
            <a:ext cx="274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DA0"/>
                </a:solidFill>
              </a:defRPr>
            </a:pPr>
            <a:r>
              <a:rPr sz="825" b="0">
                <a:solidFill>
                  <a:srgbClr val="7B8DA0"/>
                </a:solidFill>
              </a:rPr>
              <a:t>杭州电子科技大学</a:t>
            </a:r>
          </a:p>
        </p:txBody>
      </p:sp>
    </p:spTree>
    <p:extLst>
      <p:ext uri="{BB962C8B-B14F-4D97-AF65-F5344CB8AC3E}">
        <p14:creationId xmlns:p14="http://schemas.microsoft.com/office/powerpoint/2010/main" val="1749981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DF075AF5-52A7-4508-A047-A899AEA204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173A5E"/>
          </a:solidFill>
          <a:ln w="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3CE37ACD-5A76-421B-B1C0-D208C1E1F676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38100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5288F3-C2AB-4E6A-8B34-DBED4C240FA6}"/>
              </a:ext>
            </a:extLst>
          </p:cNvPr>
          <p:cNvSpPr>
            <a:spLocks noGrp="1"/>
          </p:cNvSpPr>
          <p:nvPr/>
        </p:nvSpPr>
        <p:spPr>
          <a:xfrm>
            <a:off x="781050" y="409575"/>
            <a:ext cx="838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495F6"/>
                </a:solidFill>
              </a:defRPr>
            </a:pPr>
            <a:r>
              <a:rPr sz="1125" b="1">
                <a:solidFill>
                  <a:srgbClr val="1495F6"/>
                </a:solidFill>
              </a:rPr>
              <a:t>四、会议目标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0F9490-18BA-4DEE-9C76-719FAF3E56F9}"/>
              </a:ext>
            </a:extLst>
          </p:cNvPr>
          <p:cNvSpPr>
            <a:spLocks noGrp="1"/>
          </p:cNvSpPr>
          <p:nvPr/>
        </p:nvSpPr>
        <p:spPr>
          <a:xfrm>
            <a:off x="781050" y="657225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3A5E"/>
                </a:solidFill>
              </a:defRPr>
            </a:pPr>
            <a:r>
              <a:rPr sz="1875" b="1">
                <a:solidFill>
                  <a:srgbClr val="173A5E"/>
                </a:solidFill>
              </a:rPr>
              <a:t>今天先形成一个大家都能执行的比赛方案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552D6B8-F22D-4B14-BBAE-299584C463FB}"/>
              </a:ext>
            </a:extLst>
          </p:cNvPr>
          <p:cNvSpPr>
            <a:spLocks noGrp="1"/>
          </p:cNvSpPr>
          <p:nvPr/>
        </p:nvSpPr>
        <p:spPr>
          <a:xfrm>
            <a:off x="552450" y="1228725"/>
            <a:ext cx="11087100" cy="19050"/>
          </a:xfrm>
          <a:prstGeom prst="rect">
            <a:avLst/>
          </a:prstGeom>
          <a:solidFill>
            <a:srgbClr val="D9E3EE"/>
          </a:solidFill>
          <a:ln w="0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9EBE292-0892-4F31-A61A-8DE3BA26F77A}"/>
              </a:ext>
            </a:extLst>
          </p:cNvPr>
          <p:cNvSpPr>
            <a:spLocks noGrp="1"/>
          </p:cNvSpPr>
          <p:nvPr/>
        </p:nvSpPr>
        <p:spPr>
          <a:xfrm>
            <a:off x="10058400" y="9334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C7B8A"/>
                </a:solidFill>
              </a:defRPr>
            </a:pPr>
            <a:r>
              <a:rPr sz="900" b="0">
                <a:solidFill>
                  <a:srgbClr val="6C7B8A"/>
                </a:solidFill>
              </a:rPr>
              <a:t>04 / 13</a:t>
            </a: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030621" y="457200"/>
            <a:ext cx="2474659" cy="832104"/>
          </a:xfrm>
          <a:prstGeom prst="rect">
            <a:avLst/>
          </a:prstGeom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7CDBF8FB-C81A-4CC5-A438-9AB4A368927A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1087100" cy="571500"/>
          </a:xfrm>
          <a:prstGeom prst="roundRect">
            <a:avLst>
              <a:gd name="adj" fmla="val 13333"/>
            </a:avLst>
          </a:prstGeom>
          <a:solidFill>
            <a:srgbClr val="173A5E"/>
          </a:solidFill>
          <a:ln w="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A79B025-1EF4-46EA-98F2-A417A255A853}"/>
              </a:ext>
            </a:extLst>
          </p:cNvPr>
          <p:cNvSpPr>
            <a:spLocks noGrp="1"/>
          </p:cNvSpPr>
          <p:nvPr/>
        </p:nvSpPr>
        <p:spPr>
          <a:xfrm>
            <a:off x="819150" y="1628775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本次会议不是直接派活，而是把赛题、工程基础、风险和分工一起讨论清楚。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0F634C5E-C157-4813-9C05-12820CBEE4E4}"/>
              </a:ext>
            </a:extLst>
          </p:cNvPr>
          <p:cNvSpPr>
            <a:spLocks noGrp="1"/>
          </p:cNvSpPr>
          <p:nvPr/>
        </p:nvSpPr>
        <p:spPr>
          <a:xfrm>
            <a:off x="552450" y="2343150"/>
            <a:ext cx="3429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9E4759AC-E060-4775-A1D0-2000F9CCA714}"/>
              </a:ext>
            </a:extLst>
          </p:cNvPr>
          <p:cNvSpPr>
            <a:spLocks noGrp="1"/>
          </p:cNvSpPr>
          <p:nvPr/>
        </p:nvSpPr>
        <p:spPr>
          <a:xfrm>
            <a:off x="723900" y="25146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DCB273D-2CE1-4C4B-8E6E-3914E032E727}"/>
              </a:ext>
            </a:extLst>
          </p:cNvPr>
          <p:cNvSpPr>
            <a:spLocks noGrp="1"/>
          </p:cNvSpPr>
          <p:nvPr/>
        </p:nvSpPr>
        <p:spPr>
          <a:xfrm>
            <a:off x="723900" y="2571750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8F37F24-97C0-4A63-9605-365B9C20316D}"/>
              </a:ext>
            </a:extLst>
          </p:cNvPr>
          <p:cNvSpPr>
            <a:spLocks noGrp="1"/>
          </p:cNvSpPr>
          <p:nvPr/>
        </p:nvSpPr>
        <p:spPr>
          <a:xfrm>
            <a:off x="1219200" y="25336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3A5E"/>
                </a:solidFill>
              </a:defRPr>
            </a:pPr>
            <a:r>
              <a:rPr sz="1350" b="1">
                <a:solidFill>
                  <a:srgbClr val="173A5E"/>
                </a:solidFill>
              </a:rPr>
              <a:t>理解任务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A9F8F08-9FC0-4877-A24C-D61C5E956C92}"/>
              </a:ext>
            </a:extLst>
          </p:cNvPr>
          <p:cNvSpPr>
            <a:spLocks noGrp="1"/>
          </p:cNvSpPr>
          <p:nvPr/>
        </p:nvSpPr>
        <p:spPr>
          <a:xfrm>
            <a:off x="1219200" y="2914650"/>
            <a:ext cx="2571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7083"/>
                </a:solidFill>
              </a:defRPr>
            </a:pPr>
            <a:r>
              <a:rPr sz="1050" b="0">
                <a:solidFill>
                  <a:srgbClr val="5D7083"/>
                </a:solidFill>
              </a:rPr>
              <a:t>明确这不是普通语音识别，而是目标说话人识别与非目标拒识的组合问题。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46AB0F6F-C8BE-4616-9EE1-7CE5B0100B00}"/>
              </a:ext>
            </a:extLst>
          </p:cNvPr>
          <p:cNvSpPr>
            <a:spLocks noGrp="1"/>
          </p:cNvSpPr>
          <p:nvPr/>
        </p:nvSpPr>
        <p:spPr>
          <a:xfrm>
            <a:off x="4381500" y="2343150"/>
            <a:ext cx="3429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53A8C3BF-394F-4504-864A-CD23C425EDD2}"/>
              </a:ext>
            </a:extLst>
          </p:cNvPr>
          <p:cNvSpPr>
            <a:spLocks noGrp="1"/>
          </p:cNvSpPr>
          <p:nvPr/>
        </p:nvSpPr>
        <p:spPr>
          <a:xfrm>
            <a:off x="4552950" y="25146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6617B6E-DD04-4016-987A-479245B6B96D}"/>
              </a:ext>
            </a:extLst>
          </p:cNvPr>
          <p:cNvSpPr>
            <a:spLocks noGrp="1"/>
          </p:cNvSpPr>
          <p:nvPr/>
        </p:nvSpPr>
        <p:spPr>
          <a:xfrm>
            <a:off x="4552950" y="2571750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D25AAE6-E360-432E-B114-C49C869D1DA7}"/>
              </a:ext>
            </a:extLst>
          </p:cNvPr>
          <p:cNvSpPr>
            <a:spLocks noGrp="1"/>
          </p:cNvSpPr>
          <p:nvPr/>
        </p:nvSpPr>
        <p:spPr>
          <a:xfrm>
            <a:off x="5048250" y="25336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3A5E"/>
                </a:solidFill>
              </a:defRPr>
            </a:pPr>
            <a:r>
              <a:rPr sz="1350" b="1">
                <a:solidFill>
                  <a:srgbClr val="173A5E"/>
                </a:solidFill>
              </a:rPr>
              <a:t>确认路线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1DDA3C5-F273-41AE-84C5-AB7041ABA732}"/>
              </a:ext>
            </a:extLst>
          </p:cNvPr>
          <p:cNvSpPr>
            <a:spLocks noGrp="1"/>
          </p:cNvSpPr>
          <p:nvPr/>
        </p:nvSpPr>
        <p:spPr>
          <a:xfrm>
            <a:off x="5048250" y="2914650"/>
            <a:ext cx="2571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7083"/>
                </a:solidFill>
              </a:defRPr>
            </a:pPr>
            <a:r>
              <a:rPr sz="1050" b="0">
                <a:solidFill>
                  <a:srgbClr val="5D7083"/>
                </a:solidFill>
              </a:rPr>
              <a:t>基于现有工程先做稳定闭环，再逐步优化 CER、RR 和推理效率。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377B3833-0716-43BF-BD0E-7B2DC0BA94BF}"/>
              </a:ext>
            </a:extLst>
          </p:cNvPr>
          <p:cNvSpPr>
            <a:spLocks noGrp="1"/>
          </p:cNvSpPr>
          <p:nvPr/>
        </p:nvSpPr>
        <p:spPr>
          <a:xfrm>
            <a:off x="8210550" y="2343150"/>
            <a:ext cx="3429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C1256ED8-0AF8-44B6-AD9C-FBFEEB383BE3}"/>
              </a:ext>
            </a:extLst>
          </p:cNvPr>
          <p:cNvSpPr>
            <a:spLocks noGrp="1"/>
          </p:cNvSpPr>
          <p:nvPr/>
        </p:nvSpPr>
        <p:spPr>
          <a:xfrm>
            <a:off x="8382000" y="25146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1D3726A-BAAF-4418-85E7-BFBC4A10A0F6}"/>
              </a:ext>
            </a:extLst>
          </p:cNvPr>
          <p:cNvSpPr>
            <a:spLocks noGrp="1"/>
          </p:cNvSpPr>
          <p:nvPr/>
        </p:nvSpPr>
        <p:spPr>
          <a:xfrm>
            <a:off x="8382000" y="2571750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700930F-30BD-4886-9488-A891642E1BA0}"/>
              </a:ext>
            </a:extLst>
          </p:cNvPr>
          <p:cNvSpPr>
            <a:spLocks noGrp="1"/>
          </p:cNvSpPr>
          <p:nvPr/>
        </p:nvSpPr>
        <p:spPr>
          <a:xfrm>
            <a:off x="8877300" y="25336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3A5E"/>
                </a:solidFill>
              </a:defRPr>
            </a:pPr>
            <a:r>
              <a:rPr sz="1350" b="1">
                <a:solidFill>
                  <a:srgbClr val="173A5E"/>
                </a:solidFill>
              </a:rPr>
              <a:t>认领模块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4DF6959-4B1B-4FED-8AC1-B8EDCF93E1FF}"/>
              </a:ext>
            </a:extLst>
          </p:cNvPr>
          <p:cNvSpPr>
            <a:spLocks noGrp="1"/>
          </p:cNvSpPr>
          <p:nvPr/>
        </p:nvSpPr>
        <p:spPr>
          <a:xfrm>
            <a:off x="8877300" y="2914650"/>
            <a:ext cx="2571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7083"/>
                </a:solidFill>
              </a:defRPr>
            </a:pPr>
            <a:r>
              <a:rPr sz="1050" b="0">
                <a:solidFill>
                  <a:srgbClr val="5D7083"/>
                </a:solidFill>
              </a:rPr>
              <a:t>每个人先负责一段可验证链路，一周后根据实际情况再调整。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FC615AA7-4255-4713-AF66-3C02DF9EC5B4}"/>
              </a:ext>
            </a:extLst>
          </p:cNvPr>
          <p:cNvSpPr>
            <a:spLocks noGrp="1"/>
          </p:cNvSpPr>
          <p:nvPr/>
        </p:nvSpPr>
        <p:spPr>
          <a:xfrm>
            <a:off x="552450" y="4095750"/>
            <a:ext cx="3429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E99600E7-CC02-4259-A8E0-C7BD378573D8}"/>
              </a:ext>
            </a:extLst>
          </p:cNvPr>
          <p:cNvSpPr>
            <a:spLocks noGrp="1"/>
          </p:cNvSpPr>
          <p:nvPr/>
        </p:nvSpPr>
        <p:spPr>
          <a:xfrm>
            <a:off x="723900" y="42672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88D153E-4E45-46EC-8781-94554C138E61}"/>
              </a:ext>
            </a:extLst>
          </p:cNvPr>
          <p:cNvSpPr>
            <a:spLocks noGrp="1"/>
          </p:cNvSpPr>
          <p:nvPr/>
        </p:nvSpPr>
        <p:spPr>
          <a:xfrm>
            <a:off x="723900" y="4324350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F31675B-67AE-4839-B4CD-30EF944FDC97}"/>
              </a:ext>
            </a:extLst>
          </p:cNvPr>
          <p:cNvSpPr>
            <a:spLocks noGrp="1"/>
          </p:cNvSpPr>
          <p:nvPr/>
        </p:nvSpPr>
        <p:spPr>
          <a:xfrm>
            <a:off x="1219200" y="42862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3A5E"/>
                </a:solidFill>
              </a:defRPr>
            </a:pPr>
            <a:r>
              <a:rPr sz="1350" b="1">
                <a:solidFill>
                  <a:srgbClr val="173A5E"/>
                </a:solidFill>
              </a:rPr>
              <a:t>定下节奏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4D9D8DE-6AAB-4907-A25E-B06283DD383D}"/>
              </a:ext>
            </a:extLst>
          </p:cNvPr>
          <p:cNvSpPr>
            <a:spLocks noGrp="1"/>
          </p:cNvSpPr>
          <p:nvPr/>
        </p:nvSpPr>
        <p:spPr>
          <a:xfrm>
            <a:off x="1219200" y="4667250"/>
            <a:ext cx="2571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7083"/>
                </a:solidFill>
              </a:defRPr>
            </a:pPr>
            <a:r>
              <a:rPr sz="1050" b="0">
                <a:solidFill>
                  <a:srgbClr val="5D7083"/>
                </a:solidFill>
              </a:rPr>
              <a:t>短学期期间以入门和跑通为主，短学期后进入集中优化。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DFE679C3-2CE5-4B82-A959-05DF17BE9AE4}"/>
              </a:ext>
            </a:extLst>
          </p:cNvPr>
          <p:cNvSpPr>
            <a:spLocks noGrp="1"/>
          </p:cNvSpPr>
          <p:nvPr/>
        </p:nvSpPr>
        <p:spPr>
          <a:xfrm>
            <a:off x="4381500" y="4095750"/>
            <a:ext cx="3429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AF851100-50B0-46A1-9E2E-AFAF9FC894C0}"/>
              </a:ext>
            </a:extLst>
          </p:cNvPr>
          <p:cNvSpPr>
            <a:spLocks noGrp="1"/>
          </p:cNvSpPr>
          <p:nvPr/>
        </p:nvSpPr>
        <p:spPr>
          <a:xfrm>
            <a:off x="4552950" y="42672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B4711CA-3D80-47B5-8E00-39FB664A91E0}"/>
              </a:ext>
            </a:extLst>
          </p:cNvPr>
          <p:cNvSpPr>
            <a:spLocks noGrp="1"/>
          </p:cNvSpPr>
          <p:nvPr/>
        </p:nvSpPr>
        <p:spPr>
          <a:xfrm>
            <a:off x="4552950" y="4324350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0468D31-E356-4BB9-8BBB-BBED8D8BB114}"/>
              </a:ext>
            </a:extLst>
          </p:cNvPr>
          <p:cNvSpPr>
            <a:spLocks noGrp="1"/>
          </p:cNvSpPr>
          <p:nvPr/>
        </p:nvSpPr>
        <p:spPr>
          <a:xfrm>
            <a:off x="5048250" y="42862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3A5E"/>
                </a:solidFill>
              </a:defRPr>
            </a:pPr>
            <a:r>
              <a:rPr sz="1350" b="1">
                <a:solidFill>
                  <a:srgbClr val="173A5E"/>
                </a:solidFill>
              </a:rPr>
              <a:t>建立协作规则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489F44F-064A-41C7-AF86-02116968835D}"/>
              </a:ext>
            </a:extLst>
          </p:cNvPr>
          <p:cNvSpPr>
            <a:spLocks noGrp="1"/>
          </p:cNvSpPr>
          <p:nvPr/>
        </p:nvSpPr>
        <p:spPr>
          <a:xfrm>
            <a:off x="5048250" y="4667250"/>
            <a:ext cx="2571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7083"/>
                </a:solidFill>
              </a:defRPr>
            </a:pPr>
            <a:r>
              <a:rPr sz="1050" b="0">
                <a:solidFill>
                  <a:srgbClr val="5D7083"/>
                </a:solidFill>
              </a:rPr>
              <a:t>AI 可以辅助读代码、解释报错、生成脚本，但实验结果要自己跑出来。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B0D813E9-13F9-42FF-91EC-F961869C0BC9}"/>
              </a:ext>
            </a:extLst>
          </p:cNvPr>
          <p:cNvSpPr>
            <a:spLocks noGrp="1"/>
          </p:cNvSpPr>
          <p:nvPr/>
        </p:nvSpPr>
        <p:spPr>
          <a:xfrm>
            <a:off x="8210550" y="4095750"/>
            <a:ext cx="34290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41D9218F-A56F-45DE-A508-42051D2775A6}"/>
              </a:ext>
            </a:extLst>
          </p:cNvPr>
          <p:cNvSpPr>
            <a:spLocks noGrp="1"/>
          </p:cNvSpPr>
          <p:nvPr/>
        </p:nvSpPr>
        <p:spPr>
          <a:xfrm>
            <a:off x="8382000" y="42672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1E6D96E-0B36-4088-91F4-59604595B3BC}"/>
              </a:ext>
            </a:extLst>
          </p:cNvPr>
          <p:cNvSpPr>
            <a:spLocks noGrp="1"/>
          </p:cNvSpPr>
          <p:nvPr/>
        </p:nvSpPr>
        <p:spPr>
          <a:xfrm>
            <a:off x="8382000" y="4324350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80D1AAC-E1FB-4462-A6AD-54C3A012C671}"/>
              </a:ext>
            </a:extLst>
          </p:cNvPr>
          <p:cNvSpPr>
            <a:spLocks noGrp="1"/>
          </p:cNvSpPr>
          <p:nvPr/>
        </p:nvSpPr>
        <p:spPr>
          <a:xfrm>
            <a:off x="8877300" y="42862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3A5E"/>
                </a:solidFill>
              </a:defRPr>
            </a:pPr>
            <a:r>
              <a:rPr sz="1350" b="1">
                <a:solidFill>
                  <a:srgbClr val="173A5E"/>
                </a:solidFill>
              </a:rPr>
              <a:t>输出会议结论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E17BB34-F19D-4AF8-8264-BB47177B599F}"/>
              </a:ext>
            </a:extLst>
          </p:cNvPr>
          <p:cNvSpPr>
            <a:spLocks noGrp="1"/>
          </p:cNvSpPr>
          <p:nvPr/>
        </p:nvSpPr>
        <p:spPr>
          <a:xfrm>
            <a:off x="8877300" y="4667250"/>
            <a:ext cx="2571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7083"/>
                </a:solidFill>
              </a:defRPr>
            </a:pPr>
            <a:r>
              <a:rPr sz="1050" b="0">
                <a:solidFill>
                  <a:srgbClr val="5D7083"/>
                </a:solidFill>
              </a:rPr>
              <a:t>会后留下方案文档、分工表、本周任务和下一次检查点。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73A9C64-E55D-45DB-B466-20953A021AFE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647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B8DA0"/>
                </a:solidFill>
              </a:defRPr>
            </a:pPr>
            <a:r>
              <a:rPr sz="825" b="0">
                <a:solidFill>
                  <a:srgbClr val="7B8DA0"/>
                </a:solidFill>
              </a:rPr>
              <a:t>国家级大学生创新创业训练计划 · 创新训练项目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2726ADF-A3E3-4D6E-9BED-17AB78E4A462}"/>
              </a:ext>
            </a:extLst>
          </p:cNvPr>
          <p:cNvSpPr>
            <a:spLocks noGrp="1"/>
          </p:cNvSpPr>
          <p:nvPr/>
        </p:nvSpPr>
        <p:spPr>
          <a:xfrm>
            <a:off x="8896350" y="6515100"/>
            <a:ext cx="274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DA0"/>
                </a:solidFill>
              </a:defRPr>
            </a:pPr>
            <a:r>
              <a:rPr sz="825" b="0">
                <a:solidFill>
                  <a:srgbClr val="7B8DA0"/>
                </a:solidFill>
              </a:rPr>
              <a:t>杭州电子科技大学</a:t>
            </a:r>
          </a:p>
        </p:txBody>
      </p:sp>
    </p:spTree>
    <p:extLst>
      <p:ext uri="{BB962C8B-B14F-4D97-AF65-F5344CB8AC3E}">
        <p14:creationId xmlns:p14="http://schemas.microsoft.com/office/powerpoint/2010/main" val="1354978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38601F0E-9545-44E5-89D4-3CD1D28C3F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173A5E"/>
          </a:solidFill>
          <a:ln w="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6A4D67A1-0BDA-47B2-A246-5FBB2159C610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38100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030AB83-A3FD-40FD-9DE5-7B5B57362021}"/>
              </a:ext>
            </a:extLst>
          </p:cNvPr>
          <p:cNvSpPr>
            <a:spLocks noGrp="1"/>
          </p:cNvSpPr>
          <p:nvPr/>
        </p:nvSpPr>
        <p:spPr>
          <a:xfrm>
            <a:off x="781050" y="409575"/>
            <a:ext cx="838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495F6"/>
                </a:solidFill>
              </a:defRPr>
            </a:pPr>
            <a:r>
              <a:rPr sz="1125" b="1">
                <a:solidFill>
                  <a:srgbClr val="1495F6"/>
                </a:solidFill>
              </a:rPr>
              <a:t>五、赛题拆解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F6FC6C7-80BA-472F-BDD9-37C45B55DB0C}"/>
              </a:ext>
            </a:extLst>
          </p:cNvPr>
          <p:cNvSpPr>
            <a:spLocks noGrp="1"/>
          </p:cNvSpPr>
          <p:nvPr/>
        </p:nvSpPr>
        <p:spPr>
          <a:xfrm>
            <a:off x="781050" y="657225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3A5E"/>
                </a:solidFill>
              </a:defRPr>
            </a:pPr>
            <a:r>
              <a:rPr sz="1875" b="1">
                <a:solidFill>
                  <a:srgbClr val="173A5E"/>
                </a:solidFill>
              </a:rPr>
              <a:t>评分决定了我们的技术优先级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56042D5-5ED3-4A48-8A95-C888F67B5400}"/>
              </a:ext>
            </a:extLst>
          </p:cNvPr>
          <p:cNvSpPr>
            <a:spLocks noGrp="1"/>
          </p:cNvSpPr>
          <p:nvPr/>
        </p:nvSpPr>
        <p:spPr>
          <a:xfrm>
            <a:off x="552450" y="1228725"/>
            <a:ext cx="11087100" cy="19050"/>
          </a:xfrm>
          <a:prstGeom prst="rect">
            <a:avLst/>
          </a:prstGeom>
          <a:solidFill>
            <a:srgbClr val="D9E3EE"/>
          </a:solidFill>
          <a:ln w="0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119A39-F1B6-4BC7-A502-E59944A41E67}"/>
              </a:ext>
            </a:extLst>
          </p:cNvPr>
          <p:cNvSpPr>
            <a:spLocks noGrp="1"/>
          </p:cNvSpPr>
          <p:nvPr/>
        </p:nvSpPr>
        <p:spPr>
          <a:xfrm>
            <a:off x="10058400" y="9334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C7B8A"/>
                </a:solidFill>
              </a:defRPr>
            </a:pPr>
            <a:r>
              <a:rPr sz="900" b="0">
                <a:solidFill>
                  <a:srgbClr val="6C7B8A"/>
                </a:solidFill>
              </a:rPr>
              <a:t>05 / 13</a:t>
            </a: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030621" y="457200"/>
            <a:ext cx="2474659" cy="83210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584AC90F-D10D-4E57-B1BA-765BE2CCF37F}"/>
              </a:ext>
            </a:extLst>
          </p:cNvPr>
          <p:cNvSpPr>
            <a:spLocks noGrp="1"/>
          </p:cNvSpPr>
          <p:nvPr/>
        </p:nvSpPr>
        <p:spPr>
          <a:xfrm>
            <a:off x="666750" y="1485900"/>
            <a:ext cx="1076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3A5E"/>
                </a:solidFill>
              </a:defRPr>
            </a:pPr>
            <a:r>
              <a:rPr sz="1500" b="1">
                <a:solidFill>
                  <a:srgbClr val="173A5E"/>
                </a:solidFill>
              </a:rPr>
              <a:t>赛题要求系统结合唤醒音频中的发音人信息，识别远场家居控制语音指令，并拒识非唤醒说话人。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0034ADD-9E8E-4E34-9CE3-8038D807D211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2381250" cy="857250"/>
          </a:xfrm>
          <a:prstGeom prst="roundRect">
            <a:avLst>
              <a:gd name="adj" fmla="val 8889"/>
            </a:avLst>
          </a:prstGeom>
          <a:solidFill>
            <a:srgbClr val="173A5E"/>
          </a:solidFill>
          <a:ln w="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9283482-5E60-443E-8F53-FFB044F2E0E2}"/>
              </a:ext>
            </a:extLst>
          </p:cNvPr>
          <p:cNvSpPr>
            <a:spLocks noGrp="1"/>
          </p:cNvSpPr>
          <p:nvPr/>
        </p:nvSpPr>
        <p:spPr>
          <a:xfrm>
            <a:off x="819150" y="2343150"/>
            <a:ext cx="2114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DCEAF8"/>
                </a:solidFill>
              </a:defRPr>
            </a:pPr>
            <a:r>
              <a:rPr sz="975" b="0">
                <a:solidFill>
                  <a:srgbClr val="DCEAF8"/>
                </a:solidFill>
              </a:rPr>
              <a:t>目标发音人识别 CER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D4F57B-2CD9-4EAD-927F-09EA83CB33C5}"/>
              </a:ext>
            </a:extLst>
          </p:cNvPr>
          <p:cNvSpPr>
            <a:spLocks noGrp="1"/>
          </p:cNvSpPr>
          <p:nvPr/>
        </p:nvSpPr>
        <p:spPr>
          <a:xfrm>
            <a:off x="819150" y="2590800"/>
            <a:ext cx="2114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495F6"/>
                </a:solidFill>
              </a:defRPr>
            </a:pPr>
            <a:r>
              <a:rPr sz="1950" b="1">
                <a:solidFill>
                  <a:srgbClr val="1495F6"/>
                </a:solidFill>
              </a:rPr>
              <a:t>40%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24157BE8-3EA9-42A5-B515-E240BDCC8853}"/>
              </a:ext>
            </a:extLst>
          </p:cNvPr>
          <p:cNvSpPr>
            <a:spLocks noGrp="1"/>
          </p:cNvSpPr>
          <p:nvPr/>
        </p:nvSpPr>
        <p:spPr>
          <a:xfrm>
            <a:off x="3429000" y="2190750"/>
            <a:ext cx="2381250" cy="857250"/>
          </a:xfrm>
          <a:prstGeom prst="roundRect">
            <a:avLst>
              <a:gd name="adj" fmla="val 8889"/>
            </a:avLst>
          </a:prstGeom>
          <a:solidFill>
            <a:srgbClr val="173A5E"/>
          </a:solidFill>
          <a:ln w="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16915BD-1E87-46C3-9300-6731B8B94F42}"/>
              </a:ext>
            </a:extLst>
          </p:cNvPr>
          <p:cNvSpPr>
            <a:spLocks noGrp="1"/>
          </p:cNvSpPr>
          <p:nvPr/>
        </p:nvSpPr>
        <p:spPr>
          <a:xfrm>
            <a:off x="3562350" y="2343150"/>
            <a:ext cx="2114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DCEAF8"/>
                </a:solidFill>
              </a:defRPr>
            </a:pPr>
            <a:r>
              <a:rPr sz="975" b="0">
                <a:solidFill>
                  <a:srgbClr val="DCEAF8"/>
                </a:solidFill>
              </a:rPr>
              <a:t>非目标发音人拒识 RR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877FC9F-B4E9-4098-8B57-DFBC42D0033F}"/>
              </a:ext>
            </a:extLst>
          </p:cNvPr>
          <p:cNvSpPr>
            <a:spLocks noGrp="1"/>
          </p:cNvSpPr>
          <p:nvPr/>
        </p:nvSpPr>
        <p:spPr>
          <a:xfrm>
            <a:off x="3562350" y="2590800"/>
            <a:ext cx="2114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495F6"/>
                </a:solidFill>
              </a:defRPr>
            </a:pPr>
            <a:r>
              <a:rPr sz="1950" b="1">
                <a:solidFill>
                  <a:srgbClr val="1495F6"/>
                </a:solidFill>
              </a:rPr>
              <a:t>40%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5A7AE102-8ABC-4B1F-AC40-2406C191AF09}"/>
              </a:ext>
            </a:extLst>
          </p:cNvPr>
          <p:cNvSpPr>
            <a:spLocks noGrp="1"/>
          </p:cNvSpPr>
          <p:nvPr/>
        </p:nvSpPr>
        <p:spPr>
          <a:xfrm>
            <a:off x="6172200" y="2190750"/>
            <a:ext cx="2381250" cy="857250"/>
          </a:xfrm>
          <a:prstGeom prst="roundRect">
            <a:avLst>
              <a:gd name="adj" fmla="val 8889"/>
            </a:avLst>
          </a:prstGeom>
          <a:solidFill>
            <a:srgbClr val="173A5E"/>
          </a:solidFill>
          <a:ln w="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D872BC3-B3A9-4E97-B42D-BED24368C3CD}"/>
              </a:ext>
            </a:extLst>
          </p:cNvPr>
          <p:cNvSpPr>
            <a:spLocks noGrp="1"/>
          </p:cNvSpPr>
          <p:nvPr/>
        </p:nvSpPr>
        <p:spPr>
          <a:xfrm>
            <a:off x="6305550" y="2343150"/>
            <a:ext cx="2114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DCEAF8"/>
                </a:solidFill>
              </a:defRPr>
            </a:pPr>
            <a:r>
              <a:rPr sz="975" b="0">
                <a:solidFill>
                  <a:srgbClr val="DCEAF8"/>
                </a:solidFill>
              </a:rPr>
              <a:t>推理效率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993583C-491F-4C3B-9029-2927E0DEBA02}"/>
              </a:ext>
            </a:extLst>
          </p:cNvPr>
          <p:cNvSpPr>
            <a:spLocks noGrp="1"/>
          </p:cNvSpPr>
          <p:nvPr/>
        </p:nvSpPr>
        <p:spPr>
          <a:xfrm>
            <a:off x="6305550" y="2590800"/>
            <a:ext cx="2114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495F6"/>
                </a:solidFill>
              </a:defRPr>
            </a:pPr>
            <a:r>
              <a:rPr sz="1950" b="1">
                <a:solidFill>
                  <a:srgbClr val="1495F6"/>
                </a:solidFill>
              </a:rPr>
              <a:t>20%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821FFE2E-168A-4AF4-842B-32AF15CBB4AA}"/>
              </a:ext>
            </a:extLst>
          </p:cNvPr>
          <p:cNvSpPr>
            <a:spLocks noGrp="1"/>
          </p:cNvSpPr>
          <p:nvPr/>
        </p:nvSpPr>
        <p:spPr>
          <a:xfrm>
            <a:off x="8915400" y="2190750"/>
            <a:ext cx="2381250" cy="857250"/>
          </a:xfrm>
          <a:prstGeom prst="roundRect">
            <a:avLst>
              <a:gd name="adj" fmla="val 8889"/>
            </a:avLst>
          </a:prstGeom>
          <a:solidFill>
            <a:srgbClr val="173A5E"/>
          </a:solidFill>
          <a:ln w="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A7EEBD8-1627-4A4D-ABA1-FC77E392D18A}"/>
              </a:ext>
            </a:extLst>
          </p:cNvPr>
          <p:cNvSpPr>
            <a:spLocks noGrp="1"/>
          </p:cNvSpPr>
          <p:nvPr/>
        </p:nvSpPr>
        <p:spPr>
          <a:xfrm>
            <a:off x="9048750" y="2343150"/>
            <a:ext cx="2114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DCEAF8"/>
                </a:solidFill>
              </a:defRPr>
            </a:pPr>
            <a:r>
              <a:rPr sz="975" b="0">
                <a:solidFill>
                  <a:srgbClr val="DCEAF8"/>
                </a:solidFill>
              </a:rPr>
              <a:t>提交截止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6E0C213-B3BB-431D-9778-56018EAFF408}"/>
              </a:ext>
            </a:extLst>
          </p:cNvPr>
          <p:cNvSpPr>
            <a:spLocks noGrp="1"/>
          </p:cNvSpPr>
          <p:nvPr/>
        </p:nvSpPr>
        <p:spPr>
          <a:xfrm>
            <a:off x="9048750" y="2590800"/>
            <a:ext cx="2114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495F6"/>
                </a:solidFill>
              </a:defRPr>
            </a:pPr>
            <a:r>
              <a:rPr sz="1950" b="1">
                <a:solidFill>
                  <a:srgbClr val="1495F6"/>
                </a:solidFill>
              </a:rPr>
              <a:t>9月5日前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B76E6CA8-4868-44B1-B390-B1D8F42270C1}"/>
              </a:ext>
            </a:extLst>
          </p:cNvPr>
          <p:cNvSpPr>
            <a:spLocks noGrp="1"/>
          </p:cNvSpPr>
          <p:nvPr/>
        </p:nvSpPr>
        <p:spPr>
          <a:xfrm>
            <a:off x="685800" y="3476625"/>
            <a:ext cx="4953000" cy="1095375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6974B7EF-289B-426F-AC7A-9C82FD72AEDD}"/>
              </a:ext>
            </a:extLst>
          </p:cNvPr>
          <p:cNvSpPr>
            <a:spLocks noGrp="1"/>
          </p:cNvSpPr>
          <p:nvPr/>
        </p:nvSpPr>
        <p:spPr>
          <a:xfrm>
            <a:off x="857250" y="36480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9CBE367-8295-43E2-A061-F95EC1701BFE}"/>
              </a:ext>
            </a:extLst>
          </p:cNvPr>
          <p:cNvSpPr>
            <a:spLocks noGrp="1"/>
          </p:cNvSpPr>
          <p:nvPr/>
        </p:nvSpPr>
        <p:spPr>
          <a:xfrm>
            <a:off x="857250" y="3705225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DC17DFF-C515-4C3D-A970-30DB993A57E9}"/>
              </a:ext>
            </a:extLst>
          </p:cNvPr>
          <p:cNvSpPr>
            <a:spLocks noGrp="1"/>
          </p:cNvSpPr>
          <p:nvPr/>
        </p:nvSpPr>
        <p:spPr>
          <a:xfrm>
            <a:off x="1352550" y="366712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3A5E"/>
                </a:solidFill>
              </a:defRPr>
            </a:pPr>
            <a:r>
              <a:rPr sz="1350" b="1">
                <a:solidFill>
                  <a:srgbClr val="173A5E"/>
                </a:solidFill>
              </a:rPr>
              <a:t>正样本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A9E0E86-B888-4AD9-B830-4657B1570D2B}"/>
              </a:ext>
            </a:extLst>
          </p:cNvPr>
          <p:cNvSpPr>
            <a:spLocks noGrp="1"/>
          </p:cNvSpPr>
          <p:nvPr/>
        </p:nvSpPr>
        <p:spPr>
          <a:xfrm>
            <a:off x="1352550" y="4048125"/>
            <a:ext cx="40957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7083"/>
                </a:solidFill>
              </a:defRPr>
            </a:pPr>
            <a:r>
              <a:rPr sz="1050" b="0">
                <a:solidFill>
                  <a:srgbClr val="5D7083"/>
                </a:solidFill>
              </a:rPr>
              <a:t>目标人说“打开空调”，系统应该输出文字，核心看 CER。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B4092BAE-D80B-488A-B510-CB9074691372}"/>
              </a:ext>
            </a:extLst>
          </p:cNvPr>
          <p:cNvSpPr>
            <a:spLocks noGrp="1"/>
          </p:cNvSpPr>
          <p:nvPr/>
        </p:nvSpPr>
        <p:spPr>
          <a:xfrm>
            <a:off x="6324600" y="3476625"/>
            <a:ext cx="4953000" cy="1095375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AD029FA9-1E18-456C-86A6-DFE80B64C46C}"/>
              </a:ext>
            </a:extLst>
          </p:cNvPr>
          <p:cNvSpPr>
            <a:spLocks noGrp="1"/>
          </p:cNvSpPr>
          <p:nvPr/>
        </p:nvSpPr>
        <p:spPr>
          <a:xfrm>
            <a:off x="6496050" y="36480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F26615D-77F7-4344-8DCB-9D881334A231}"/>
              </a:ext>
            </a:extLst>
          </p:cNvPr>
          <p:cNvSpPr>
            <a:spLocks noGrp="1"/>
          </p:cNvSpPr>
          <p:nvPr/>
        </p:nvSpPr>
        <p:spPr>
          <a:xfrm>
            <a:off x="6496050" y="3705225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818E9C9-A84B-4FA1-986D-BE1DF38F5497}"/>
              </a:ext>
            </a:extLst>
          </p:cNvPr>
          <p:cNvSpPr>
            <a:spLocks noGrp="1"/>
          </p:cNvSpPr>
          <p:nvPr/>
        </p:nvSpPr>
        <p:spPr>
          <a:xfrm>
            <a:off x="6991350" y="366712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3A5E"/>
                </a:solidFill>
              </a:defRPr>
            </a:pPr>
            <a:r>
              <a:rPr sz="1350" b="1">
                <a:solidFill>
                  <a:srgbClr val="173A5E"/>
                </a:solidFill>
              </a:rPr>
              <a:t>负样本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1E24ABC-9ED1-4782-816D-2C1B798E0155}"/>
              </a:ext>
            </a:extLst>
          </p:cNvPr>
          <p:cNvSpPr>
            <a:spLocks noGrp="1"/>
          </p:cNvSpPr>
          <p:nvPr/>
        </p:nvSpPr>
        <p:spPr>
          <a:xfrm>
            <a:off x="6991350" y="4048125"/>
            <a:ext cx="40957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7083"/>
                </a:solidFill>
              </a:defRPr>
            </a:pPr>
            <a:r>
              <a:rPr sz="1050" b="0">
                <a:solidFill>
                  <a:srgbClr val="5D7083"/>
                </a:solidFill>
              </a:rPr>
              <a:t>非目标人也可能说“打开空调”，但系统应该输出空字符串，核心看 RR。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335F3100-8D7F-4D75-A736-38E714BDB803}"/>
              </a:ext>
            </a:extLst>
          </p:cNvPr>
          <p:cNvSpPr>
            <a:spLocks noGrp="1"/>
          </p:cNvSpPr>
          <p:nvPr/>
        </p:nvSpPr>
        <p:spPr>
          <a:xfrm>
            <a:off x="685800" y="4914900"/>
            <a:ext cx="10591800" cy="819150"/>
          </a:xfrm>
          <a:prstGeom prst="roundRect">
            <a:avLst>
              <a:gd name="adj" fmla="val 9302"/>
            </a:avLst>
          </a:prstGeom>
          <a:solidFill>
            <a:srgbClr val="EAF5FF"/>
          </a:solidFill>
          <a:ln w="9525">
            <a:solidFill>
              <a:srgbClr val="B9DB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8FD9EF7-AEAE-4FAB-940B-25D2C92D6D65}"/>
              </a:ext>
            </a:extLst>
          </p:cNvPr>
          <p:cNvSpPr>
            <a:spLocks noGrp="1"/>
          </p:cNvSpPr>
          <p:nvPr/>
        </p:nvSpPr>
        <p:spPr>
          <a:xfrm>
            <a:off x="914400" y="5067300"/>
            <a:ext cx="1009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73A5E"/>
                </a:solidFill>
              </a:defRPr>
            </a:pPr>
            <a:r>
              <a:rPr sz="1425" b="1">
                <a:solidFill>
                  <a:srgbClr val="173A5E"/>
                </a:solidFill>
              </a:rPr>
              <a:t>关键理解：正负样本的区别不是指令内容，而是说话人身份。目标人说同一句话要识别，非目标人说同一句话要拒识。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405390C-1459-4956-B20A-AA8494647200}"/>
              </a:ext>
            </a:extLst>
          </p:cNvPr>
          <p:cNvSpPr>
            <a:spLocks noGrp="1"/>
          </p:cNvSpPr>
          <p:nvPr/>
        </p:nvSpPr>
        <p:spPr>
          <a:xfrm>
            <a:off x="914400" y="5400675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495F6"/>
                </a:solidFill>
              </a:defRPr>
            </a:pPr>
            <a:r>
              <a:rPr sz="1275" b="1">
                <a:solidFill>
                  <a:srgbClr val="1495F6"/>
                </a:solidFill>
              </a:rPr>
              <a:t>所以 ASR 负责“他说了什么”，声纹拒识负责“是不是该听他说”。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27721E2-B603-4671-A37B-F73D39BCFCD1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D7083"/>
                </a:solidFill>
              </a:defRPr>
            </a:pPr>
            <a:r>
              <a:rPr sz="1125" b="0">
                <a:solidFill>
                  <a:srgbClr val="5D7083"/>
                </a:solidFill>
              </a:rPr>
              <a:t>比赛测试集还包含噪声、重叠语音和不同信噪比场景，同一时间最多两个说话人。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C2A54D-8C6D-42A9-BF37-88B1313ABE37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647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B8DA0"/>
                </a:solidFill>
              </a:defRPr>
            </a:pPr>
            <a:r>
              <a:rPr sz="825" b="0">
                <a:solidFill>
                  <a:srgbClr val="7B8DA0"/>
                </a:solidFill>
              </a:rPr>
              <a:t>国家级大学生创新创业训练计划 · 创新训练项目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C82400A-8896-4426-9622-D50803B28794}"/>
              </a:ext>
            </a:extLst>
          </p:cNvPr>
          <p:cNvSpPr>
            <a:spLocks noGrp="1"/>
          </p:cNvSpPr>
          <p:nvPr/>
        </p:nvSpPr>
        <p:spPr>
          <a:xfrm>
            <a:off x="8896350" y="6515100"/>
            <a:ext cx="274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DA0"/>
                </a:solidFill>
              </a:defRPr>
            </a:pPr>
            <a:r>
              <a:rPr sz="825" b="0">
                <a:solidFill>
                  <a:srgbClr val="7B8DA0"/>
                </a:solidFill>
              </a:rPr>
              <a:t>杭州电子科技大学</a:t>
            </a:r>
          </a:p>
        </p:txBody>
      </p:sp>
    </p:spTree>
    <p:extLst>
      <p:ext uri="{BB962C8B-B14F-4D97-AF65-F5344CB8AC3E}">
        <p14:creationId xmlns:p14="http://schemas.microsoft.com/office/powerpoint/2010/main" val="280842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3A279627-3B0F-4200-A335-D3391F475F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173A5E"/>
          </a:solidFill>
          <a:ln w="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B5E1EDA9-5D99-4DD1-950E-0366DCA40AB2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38100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B56C5DD-168C-4097-920A-304A8373D14C}"/>
              </a:ext>
            </a:extLst>
          </p:cNvPr>
          <p:cNvSpPr>
            <a:spLocks noGrp="1"/>
          </p:cNvSpPr>
          <p:nvPr/>
        </p:nvSpPr>
        <p:spPr>
          <a:xfrm>
            <a:off x="781050" y="409575"/>
            <a:ext cx="838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495F6"/>
                </a:solidFill>
              </a:defRPr>
            </a:pPr>
            <a:r>
              <a:rPr sz="1125" b="1">
                <a:solidFill>
                  <a:srgbClr val="1495F6"/>
                </a:solidFill>
              </a:rPr>
              <a:t>六、现有基础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82745DA-9BAF-4FA8-95FA-1F3EF84A8661}"/>
              </a:ext>
            </a:extLst>
          </p:cNvPr>
          <p:cNvSpPr>
            <a:spLocks noGrp="1"/>
          </p:cNvSpPr>
          <p:nvPr/>
        </p:nvSpPr>
        <p:spPr>
          <a:xfrm>
            <a:off x="781050" y="657225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3A5E"/>
                </a:solidFill>
              </a:defRPr>
            </a:pPr>
            <a:r>
              <a:rPr sz="1875" b="1">
                <a:solidFill>
                  <a:srgbClr val="173A5E"/>
                </a:solidFill>
              </a:rPr>
              <a:t>我们不是从零开始，而是在原型上做成可提交作品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8FD979-E5A9-40BC-9592-F7B97AF9E165}"/>
              </a:ext>
            </a:extLst>
          </p:cNvPr>
          <p:cNvSpPr>
            <a:spLocks noGrp="1"/>
          </p:cNvSpPr>
          <p:nvPr/>
        </p:nvSpPr>
        <p:spPr>
          <a:xfrm>
            <a:off x="552450" y="1228725"/>
            <a:ext cx="11087100" cy="19050"/>
          </a:xfrm>
          <a:prstGeom prst="rect">
            <a:avLst/>
          </a:prstGeom>
          <a:solidFill>
            <a:srgbClr val="D9E3EE"/>
          </a:solidFill>
          <a:ln w="0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D0C1BEB-2A39-4B7B-AE0E-ACB9602F7465}"/>
              </a:ext>
            </a:extLst>
          </p:cNvPr>
          <p:cNvSpPr>
            <a:spLocks noGrp="1"/>
          </p:cNvSpPr>
          <p:nvPr/>
        </p:nvSpPr>
        <p:spPr>
          <a:xfrm>
            <a:off x="10058400" y="9334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C7B8A"/>
                </a:solidFill>
              </a:defRPr>
            </a:pPr>
            <a:r>
              <a:rPr sz="900" b="0">
                <a:solidFill>
                  <a:srgbClr val="6C7B8A"/>
                </a:solidFill>
              </a:rPr>
              <a:t>06 / 13</a:t>
            </a:r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030621" y="457200"/>
            <a:ext cx="2474659" cy="832104"/>
          </a:xfrm>
          <a:prstGeom prst="rect">
            <a:avLst/>
          </a:prstGeom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EFBF18EC-C9DE-48BE-9AE1-490942A8ACDD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4953000" cy="390525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2950" y="2087599"/>
            <a:ext cx="4572000" cy="1158802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CBAA8986-58A5-41B0-B151-2DF6E2BE35B8}"/>
              </a:ext>
            </a:extLst>
          </p:cNvPr>
          <p:cNvSpPr>
            <a:spLocks noGrp="1"/>
          </p:cNvSpPr>
          <p:nvPr/>
        </p:nvSpPr>
        <p:spPr>
          <a:xfrm>
            <a:off x="742950" y="161925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3A5E"/>
                </a:solidFill>
              </a:defRPr>
            </a:pPr>
            <a:r>
              <a:rPr sz="1500" b="1">
                <a:solidFill>
                  <a:srgbClr val="173A5E"/>
                </a:solidFill>
              </a:rPr>
              <a:t>当前工程已有的核心脚本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0CCA4CF9-970E-4C4A-A0AC-05A4ABE4933D}"/>
              </a:ext>
            </a:extLst>
          </p:cNvPr>
          <p:cNvSpPr>
            <a:spLocks noGrp="1"/>
          </p:cNvSpPr>
          <p:nvPr/>
        </p:nvSpPr>
        <p:spPr>
          <a:xfrm>
            <a:off x="742950" y="3619500"/>
            <a:ext cx="4476750" cy="285750"/>
          </a:xfrm>
          <a:prstGeom prst="roundRect">
            <a:avLst>
              <a:gd name="adj" fmla="val 26667"/>
            </a:avLst>
          </a:prstGeom>
          <a:solidFill>
            <a:srgbClr val="F7FAFD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FD8263B-FD5C-480E-8556-30950BF7A7E2}"/>
              </a:ext>
            </a:extLst>
          </p:cNvPr>
          <p:cNvSpPr>
            <a:spLocks noGrp="1"/>
          </p:cNvSpPr>
          <p:nvPr/>
        </p:nvSpPr>
        <p:spPr>
          <a:xfrm>
            <a:off x="914400" y="3714750"/>
            <a:ext cx="41338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19324A"/>
                </a:solidFill>
              </a:defRPr>
            </a:pPr>
            <a:r>
              <a:rPr sz="825" b="0">
                <a:solidFill>
                  <a:srgbClr val="19324A"/>
                </a:solidFill>
              </a:rPr>
              <a:t>eval_datasetA.py：测试集A评测与提交结果（跑测试集A，看系统得分）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0A53BEA3-6D94-4AEC-8F13-305C76D35115}"/>
              </a:ext>
            </a:extLst>
          </p:cNvPr>
          <p:cNvSpPr>
            <a:spLocks noGrp="1"/>
          </p:cNvSpPr>
          <p:nvPr/>
        </p:nvSpPr>
        <p:spPr>
          <a:xfrm>
            <a:off x="742950" y="3962400"/>
            <a:ext cx="4476750" cy="285750"/>
          </a:xfrm>
          <a:prstGeom prst="roundRect">
            <a:avLst>
              <a:gd name="adj" fmla="val 26667"/>
            </a:avLst>
          </a:prstGeom>
          <a:solidFill>
            <a:srgbClr val="F7FAFD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1E6FCC-60AB-4252-AC81-96AFEECB0C65}"/>
              </a:ext>
            </a:extLst>
          </p:cNvPr>
          <p:cNvSpPr>
            <a:spLocks noGrp="1"/>
          </p:cNvSpPr>
          <p:nvPr/>
        </p:nvSpPr>
        <p:spPr>
          <a:xfrm>
            <a:off x="914400" y="4057650"/>
            <a:ext cx="41338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19324A"/>
                </a:solidFill>
              </a:defRPr>
            </a:pPr>
            <a:r>
              <a:rPr sz="825" b="0">
                <a:solidFill>
                  <a:srgbClr val="19324A"/>
                </a:solidFill>
              </a:rPr>
              <a:t>speaker_verify.py：声纹相似度与拒识门控（判断当前说话人是不是目标说话人）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AC7ED417-F394-4421-8667-45335E1B069F}"/>
              </a:ext>
            </a:extLst>
          </p:cNvPr>
          <p:cNvSpPr>
            <a:spLocks noGrp="1"/>
          </p:cNvSpPr>
          <p:nvPr/>
        </p:nvSpPr>
        <p:spPr>
          <a:xfrm>
            <a:off x="742950" y="4305300"/>
            <a:ext cx="4476750" cy="285750"/>
          </a:xfrm>
          <a:prstGeom prst="roundRect">
            <a:avLst>
              <a:gd name="adj" fmla="val 26667"/>
            </a:avLst>
          </a:prstGeom>
          <a:solidFill>
            <a:srgbClr val="F7FAFD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1CB004A-BEAB-4D3F-9877-E38EFDFD3073}"/>
              </a:ext>
            </a:extLst>
          </p:cNvPr>
          <p:cNvSpPr>
            <a:spLocks noGrp="1"/>
          </p:cNvSpPr>
          <p:nvPr/>
        </p:nvSpPr>
        <p:spPr>
          <a:xfrm>
            <a:off x="914400" y="4400550"/>
            <a:ext cx="41338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19324A"/>
                </a:solidFill>
              </a:defRPr>
            </a:pPr>
            <a:r>
              <a:rPr sz="825" b="0">
                <a:solidFill>
                  <a:srgbClr val="19324A"/>
                </a:solidFill>
              </a:rPr>
              <a:t>trusted_pipeline.py：声纹门控到ASR的闭环（把身份判断和语音识别串起来）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A7846557-8970-40AF-825D-2876B84A38E2}"/>
              </a:ext>
            </a:extLst>
          </p:cNvPr>
          <p:cNvSpPr>
            <a:spLocks noGrp="1"/>
          </p:cNvSpPr>
          <p:nvPr/>
        </p:nvSpPr>
        <p:spPr>
          <a:xfrm>
            <a:off x="742950" y="4648200"/>
            <a:ext cx="4476750" cy="285750"/>
          </a:xfrm>
          <a:prstGeom prst="roundRect">
            <a:avLst>
              <a:gd name="adj" fmla="val 26667"/>
            </a:avLst>
          </a:prstGeom>
          <a:solidFill>
            <a:srgbClr val="F7FAFD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6A8AFE5-ADEB-4653-8DBA-BF233EFA5FC1}"/>
              </a:ext>
            </a:extLst>
          </p:cNvPr>
          <p:cNvSpPr>
            <a:spLocks noGrp="1"/>
          </p:cNvSpPr>
          <p:nvPr/>
        </p:nvSpPr>
        <p:spPr>
          <a:xfrm>
            <a:off x="914400" y="4743450"/>
            <a:ext cx="41338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19324A"/>
                </a:solidFill>
              </a:defRPr>
            </a:pPr>
            <a:r>
              <a:rPr sz="825" b="0">
                <a:solidFill>
                  <a:srgbClr val="19324A"/>
                </a:solidFill>
              </a:rPr>
              <a:t>command_match.py：文本规范化与指令匹配（修正识别文字，匹配合法指令）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D1CB530C-E80A-4DC0-9037-0B4C0C87B69C}"/>
              </a:ext>
            </a:extLst>
          </p:cNvPr>
          <p:cNvSpPr>
            <a:spLocks noGrp="1"/>
          </p:cNvSpPr>
          <p:nvPr/>
        </p:nvSpPr>
        <p:spPr>
          <a:xfrm>
            <a:off x="742950" y="4991100"/>
            <a:ext cx="4476750" cy="285750"/>
          </a:xfrm>
          <a:prstGeom prst="roundRect">
            <a:avLst>
              <a:gd name="adj" fmla="val 26667"/>
            </a:avLst>
          </a:prstGeom>
          <a:solidFill>
            <a:srgbClr val="F7FAFD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10DC9A7-EF87-49F3-8330-5BF9CB623422}"/>
              </a:ext>
            </a:extLst>
          </p:cNvPr>
          <p:cNvSpPr>
            <a:spLocks noGrp="1"/>
          </p:cNvSpPr>
          <p:nvPr/>
        </p:nvSpPr>
        <p:spPr>
          <a:xfrm>
            <a:off x="914400" y="5086350"/>
            <a:ext cx="41338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19324A"/>
                </a:solidFill>
              </a:defRPr>
            </a:pPr>
            <a:r>
              <a:rPr sz="825" b="0">
                <a:solidFill>
                  <a:srgbClr val="19324A"/>
                </a:solidFill>
              </a:rPr>
              <a:t>train_lightweight_gate.py：轻量门控训练（训练小模型判断放行还是拒识）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1CB78B45-6649-46A2-A3E4-CA574C505779}"/>
              </a:ext>
            </a:extLst>
          </p:cNvPr>
          <p:cNvSpPr>
            <a:spLocks noGrp="1"/>
          </p:cNvSpPr>
          <p:nvPr/>
        </p:nvSpPr>
        <p:spPr>
          <a:xfrm>
            <a:off x="5905500" y="1466850"/>
            <a:ext cx="5734050" cy="390525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F7BD21A-9E17-4D3D-921D-C54CF8F2C2BD}"/>
              </a:ext>
            </a:extLst>
          </p:cNvPr>
          <p:cNvSpPr>
            <a:spLocks noGrp="1"/>
          </p:cNvSpPr>
          <p:nvPr/>
        </p:nvSpPr>
        <p:spPr>
          <a:xfrm>
            <a:off x="6191250" y="163830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3A5E"/>
                </a:solidFill>
              </a:defRPr>
            </a:pPr>
            <a:r>
              <a:rPr sz="1500" b="1">
                <a:solidFill>
                  <a:srgbClr val="173A5E"/>
                </a:solidFill>
              </a:rPr>
              <a:t>数据集A怎么用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7B8932A3-ABFE-458A-86D7-19B10BB73C0A}"/>
              </a:ext>
            </a:extLst>
          </p:cNvPr>
          <p:cNvSpPr>
            <a:spLocks noGrp="1"/>
          </p:cNvSpPr>
          <p:nvPr/>
        </p:nvSpPr>
        <p:spPr>
          <a:xfrm>
            <a:off x="6191250" y="2114550"/>
            <a:ext cx="49530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50B1E47B-47B8-48D3-9F3E-89863F4F4F28}"/>
              </a:ext>
            </a:extLst>
          </p:cNvPr>
          <p:cNvSpPr>
            <a:spLocks noGrp="1"/>
          </p:cNvSpPr>
          <p:nvPr/>
        </p:nvSpPr>
        <p:spPr>
          <a:xfrm>
            <a:off x="6362700" y="22860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43134AF-1016-4773-9D5D-C87AFC032504}"/>
              </a:ext>
            </a:extLst>
          </p:cNvPr>
          <p:cNvSpPr>
            <a:spLocks noGrp="1"/>
          </p:cNvSpPr>
          <p:nvPr/>
        </p:nvSpPr>
        <p:spPr>
          <a:xfrm>
            <a:off x="6362700" y="2343150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AF4D835-F413-4EFC-B37C-910B9401EE10}"/>
              </a:ext>
            </a:extLst>
          </p:cNvPr>
          <p:cNvSpPr>
            <a:spLocks noGrp="1"/>
          </p:cNvSpPr>
          <p:nvPr/>
        </p:nvSpPr>
        <p:spPr>
          <a:xfrm>
            <a:off x="6858000" y="23050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3A5E"/>
                </a:solidFill>
              </a:defRPr>
            </a:pPr>
            <a:r>
              <a:rPr sz="1350" b="1">
                <a:solidFill>
                  <a:srgbClr val="173A5E"/>
                </a:solidFill>
              </a:rPr>
              <a:t>pos 正样本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C705CE1-CC3E-4493-8CC1-82F845EFDB73}"/>
              </a:ext>
            </a:extLst>
          </p:cNvPr>
          <p:cNvSpPr>
            <a:spLocks noGrp="1"/>
          </p:cNvSpPr>
          <p:nvPr/>
        </p:nvSpPr>
        <p:spPr>
          <a:xfrm>
            <a:off x="6858000" y="2686050"/>
            <a:ext cx="409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7083"/>
                </a:solidFill>
              </a:defRPr>
            </a:pPr>
            <a:r>
              <a:rPr sz="1050" b="0">
                <a:solidFill>
                  <a:srgbClr val="5D7083"/>
                </a:solidFill>
              </a:rPr>
              <a:t>有识别文本标签，用来算目标说话人 CER。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20AC5D62-8297-4D87-8912-D97FCE5D6927}"/>
              </a:ext>
            </a:extLst>
          </p:cNvPr>
          <p:cNvSpPr>
            <a:spLocks noGrp="1"/>
          </p:cNvSpPr>
          <p:nvPr/>
        </p:nvSpPr>
        <p:spPr>
          <a:xfrm>
            <a:off x="6191250" y="3105150"/>
            <a:ext cx="49530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8D7163A0-99B0-40D8-B521-335AC549F7B8}"/>
              </a:ext>
            </a:extLst>
          </p:cNvPr>
          <p:cNvSpPr>
            <a:spLocks noGrp="1"/>
          </p:cNvSpPr>
          <p:nvPr/>
        </p:nvSpPr>
        <p:spPr>
          <a:xfrm>
            <a:off x="6362700" y="32766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B279ABB-70B4-4E37-B79F-CA5B609A1266}"/>
              </a:ext>
            </a:extLst>
          </p:cNvPr>
          <p:cNvSpPr>
            <a:spLocks noGrp="1"/>
          </p:cNvSpPr>
          <p:nvPr/>
        </p:nvSpPr>
        <p:spPr>
          <a:xfrm>
            <a:off x="6362700" y="3333750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44E3E3F-2E26-4677-9DB6-45B1E6AE6052}"/>
              </a:ext>
            </a:extLst>
          </p:cNvPr>
          <p:cNvSpPr>
            <a:spLocks noGrp="1"/>
          </p:cNvSpPr>
          <p:nvPr/>
        </p:nvSpPr>
        <p:spPr>
          <a:xfrm>
            <a:off x="6858000" y="32956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3A5E"/>
                </a:solidFill>
              </a:defRPr>
            </a:pPr>
            <a:r>
              <a:rPr sz="1350" b="1">
                <a:solidFill>
                  <a:srgbClr val="173A5E"/>
                </a:solidFill>
              </a:rPr>
              <a:t>neg 负样本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FB2FD1D-C2DF-49BF-9D85-3A64CCD5E534}"/>
              </a:ext>
            </a:extLst>
          </p:cNvPr>
          <p:cNvSpPr>
            <a:spLocks noGrp="1"/>
          </p:cNvSpPr>
          <p:nvPr/>
        </p:nvSpPr>
        <p:spPr>
          <a:xfrm>
            <a:off x="6858000" y="3676650"/>
            <a:ext cx="409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7083"/>
                </a:solidFill>
              </a:defRPr>
            </a:pPr>
            <a:r>
              <a:rPr sz="1050" b="0">
                <a:solidFill>
                  <a:srgbClr val="5D7083"/>
                </a:solidFill>
              </a:rPr>
              <a:t>标签为空，系统应该拒识并输出空字符串，用来算 RR。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892777FB-F86F-458F-8F64-28C210C4947C}"/>
              </a:ext>
            </a:extLst>
          </p:cNvPr>
          <p:cNvSpPr>
            <a:spLocks noGrp="1"/>
          </p:cNvSpPr>
          <p:nvPr/>
        </p:nvSpPr>
        <p:spPr>
          <a:xfrm>
            <a:off x="6191250" y="4095750"/>
            <a:ext cx="4953000" cy="85725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D2B5FAB4-4D84-424C-ADB1-1EFF33C68780}"/>
              </a:ext>
            </a:extLst>
          </p:cNvPr>
          <p:cNvSpPr>
            <a:spLocks noGrp="1"/>
          </p:cNvSpPr>
          <p:nvPr/>
        </p:nvSpPr>
        <p:spPr>
          <a:xfrm>
            <a:off x="6362700" y="42672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EC75CB1-2DA5-4749-9227-21D436C8A4C9}"/>
              </a:ext>
            </a:extLst>
          </p:cNvPr>
          <p:cNvSpPr>
            <a:spLocks noGrp="1"/>
          </p:cNvSpPr>
          <p:nvPr/>
        </p:nvSpPr>
        <p:spPr>
          <a:xfrm>
            <a:off x="6362700" y="4324350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76820AD-CDD1-4A2C-A9D6-81C24727F61E}"/>
              </a:ext>
            </a:extLst>
          </p:cNvPr>
          <p:cNvSpPr>
            <a:spLocks noGrp="1"/>
          </p:cNvSpPr>
          <p:nvPr/>
        </p:nvSpPr>
        <p:spPr>
          <a:xfrm>
            <a:off x="6858000" y="42862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3A5E"/>
                </a:solidFill>
              </a:defRPr>
            </a:pPr>
            <a:r>
              <a:rPr sz="1350" b="1">
                <a:solidFill>
                  <a:srgbClr val="173A5E"/>
                </a:solidFill>
              </a:rPr>
              <a:t>统一评测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A898352-8B17-4560-B8DB-4972B6D48969}"/>
              </a:ext>
            </a:extLst>
          </p:cNvPr>
          <p:cNvSpPr>
            <a:spLocks noGrp="1"/>
          </p:cNvSpPr>
          <p:nvPr/>
        </p:nvSpPr>
        <p:spPr>
          <a:xfrm>
            <a:off x="6858000" y="4667250"/>
            <a:ext cx="4095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7083"/>
                </a:solidFill>
              </a:defRPr>
            </a:pPr>
            <a:r>
              <a:rPr sz="1050" b="0">
                <a:solidFill>
                  <a:srgbClr val="5D7083"/>
                </a:solidFill>
              </a:rPr>
              <a:t>任何改动都要通过同一脚本、同一记录表比较，不能凭感觉判断。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C032434-3D97-4737-90C0-F627B778CE10}"/>
              </a:ext>
            </a:extLst>
          </p:cNvPr>
          <p:cNvSpPr>
            <a:spLocks noGrp="1"/>
          </p:cNvSpPr>
          <p:nvPr/>
        </p:nvSpPr>
        <p:spPr>
          <a:xfrm>
            <a:off x="6191250" y="514350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495F6"/>
                </a:solidFill>
              </a:defRPr>
            </a:pPr>
            <a:r>
              <a:rPr sz="1275" b="1">
                <a:solidFill>
                  <a:srgbClr val="1495F6"/>
                </a:solidFill>
              </a:rPr>
              <a:t>第一阶段目标：让所有成员都能跑通一个小样本评测，并看懂输入、输出和指标。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F008836-D2CA-414E-88C2-E74DCF0683C5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647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B8DA0"/>
                </a:solidFill>
              </a:defRPr>
            </a:pPr>
            <a:r>
              <a:rPr sz="825" b="0">
                <a:solidFill>
                  <a:srgbClr val="7B8DA0"/>
                </a:solidFill>
              </a:rPr>
              <a:t>国家级大学生创新创业训练计划 · 创新训练项目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E1DE681-F9D6-4A30-9B15-A431D019E87E}"/>
              </a:ext>
            </a:extLst>
          </p:cNvPr>
          <p:cNvSpPr>
            <a:spLocks noGrp="1"/>
          </p:cNvSpPr>
          <p:nvPr/>
        </p:nvSpPr>
        <p:spPr>
          <a:xfrm>
            <a:off x="8896350" y="6515100"/>
            <a:ext cx="274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DA0"/>
                </a:solidFill>
              </a:defRPr>
            </a:pPr>
            <a:r>
              <a:rPr sz="825" b="0">
                <a:solidFill>
                  <a:srgbClr val="7B8DA0"/>
                </a:solidFill>
              </a:rPr>
              <a:t>杭州电子科技大学</a:t>
            </a:r>
          </a:p>
        </p:txBody>
      </p:sp>
    </p:spTree>
    <p:extLst>
      <p:ext uri="{BB962C8B-B14F-4D97-AF65-F5344CB8AC3E}">
        <p14:creationId xmlns:p14="http://schemas.microsoft.com/office/powerpoint/2010/main" val="1813631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C1C42C1-44B8-4869-BA34-2533162C4A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173A5E"/>
          </a:solidFill>
          <a:ln w="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0DAC7394-1342-48FA-9643-57941881FC52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38100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3681079-10ED-4587-9D0C-9B55B2C2E681}"/>
              </a:ext>
            </a:extLst>
          </p:cNvPr>
          <p:cNvSpPr>
            <a:spLocks noGrp="1"/>
          </p:cNvSpPr>
          <p:nvPr/>
        </p:nvSpPr>
        <p:spPr>
          <a:xfrm>
            <a:off x="781050" y="409575"/>
            <a:ext cx="838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495F6"/>
                </a:solidFill>
              </a:defRPr>
            </a:pPr>
            <a:r>
              <a:rPr sz="1125" b="1">
                <a:solidFill>
                  <a:srgbClr val="1495F6"/>
                </a:solidFill>
              </a:rPr>
              <a:t>七、技术路线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FE8071-A90E-491D-A752-B5C3194633C1}"/>
              </a:ext>
            </a:extLst>
          </p:cNvPr>
          <p:cNvSpPr>
            <a:spLocks noGrp="1"/>
          </p:cNvSpPr>
          <p:nvPr/>
        </p:nvSpPr>
        <p:spPr>
          <a:xfrm>
            <a:off x="781050" y="657225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3A5E"/>
                </a:solidFill>
              </a:defRPr>
            </a:pPr>
            <a:r>
              <a:rPr sz="1875" b="1">
                <a:solidFill>
                  <a:srgbClr val="173A5E"/>
                </a:solidFill>
              </a:rPr>
              <a:t>先建立稳定闭环，再逐步进入优化和训练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59ACDE-3FEF-440C-B6DC-CB450426E001}"/>
              </a:ext>
            </a:extLst>
          </p:cNvPr>
          <p:cNvSpPr>
            <a:spLocks noGrp="1"/>
          </p:cNvSpPr>
          <p:nvPr/>
        </p:nvSpPr>
        <p:spPr>
          <a:xfrm>
            <a:off x="552450" y="1228725"/>
            <a:ext cx="11087100" cy="19050"/>
          </a:xfrm>
          <a:prstGeom prst="rect">
            <a:avLst/>
          </a:prstGeom>
          <a:solidFill>
            <a:srgbClr val="D9E3EE"/>
          </a:solidFill>
          <a:ln w="0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9338B6D-E3B3-421A-A685-7AB2D3FCD9B4}"/>
              </a:ext>
            </a:extLst>
          </p:cNvPr>
          <p:cNvSpPr>
            <a:spLocks noGrp="1"/>
          </p:cNvSpPr>
          <p:nvPr/>
        </p:nvSpPr>
        <p:spPr>
          <a:xfrm>
            <a:off x="10058400" y="9334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C7B8A"/>
                </a:solidFill>
              </a:defRPr>
            </a:pPr>
            <a:r>
              <a:rPr sz="900" b="0">
                <a:solidFill>
                  <a:srgbClr val="6C7B8A"/>
                </a:solidFill>
              </a:rPr>
              <a:t>07 / 13</a:t>
            </a: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030621" y="457200"/>
            <a:ext cx="2474659" cy="832104"/>
          </a:xfrm>
          <a:prstGeom prst="rect">
            <a:avLst/>
          </a:prstGeom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6FABEF18-6A33-4962-87AF-04732A5C974C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1087100" cy="571500"/>
          </a:xfrm>
          <a:prstGeom prst="roundRect">
            <a:avLst>
              <a:gd name="adj" fmla="val 13333"/>
            </a:avLst>
          </a:prstGeom>
          <a:solidFill>
            <a:srgbClr val="173A5E"/>
          </a:solidFill>
          <a:ln w="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740D68-23D0-45EA-8341-D97B174A3E91}"/>
              </a:ext>
            </a:extLst>
          </p:cNvPr>
          <p:cNvSpPr>
            <a:spLocks noGrp="1"/>
          </p:cNvSpPr>
          <p:nvPr/>
        </p:nvSpPr>
        <p:spPr>
          <a:xfrm>
            <a:off x="819150" y="1628775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默认路线：声纹拒识 + FunASR 识别 + 文本后处理 + 融合判定。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1761C35E-112A-423C-92C6-447F6B9B94F6}"/>
              </a:ext>
            </a:extLst>
          </p:cNvPr>
          <p:cNvSpPr>
            <a:spLocks noGrp="1"/>
          </p:cNvSpPr>
          <p:nvPr/>
        </p:nvSpPr>
        <p:spPr>
          <a:xfrm>
            <a:off x="666750" y="2571750"/>
            <a:ext cx="14287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B9DB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D23E62A-1AFD-47D8-A5C7-259AC4D98FA8}"/>
              </a:ext>
            </a:extLst>
          </p:cNvPr>
          <p:cNvSpPr>
            <a:spLocks noGrp="1"/>
          </p:cNvSpPr>
          <p:nvPr/>
        </p:nvSpPr>
        <p:spPr>
          <a:xfrm>
            <a:off x="762000" y="2771775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73A5E"/>
                </a:solidFill>
              </a:defRPr>
            </a:pPr>
            <a:r>
              <a:rPr sz="1275" b="1">
                <a:solidFill>
                  <a:srgbClr val="173A5E"/>
                </a:solidFill>
              </a:rPr>
              <a:t>唤醒音频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3C5DB3F-DA9D-4120-BD8F-A3F6EFE2EDEB}"/>
              </a:ext>
            </a:extLst>
          </p:cNvPr>
          <p:cNvSpPr>
            <a:spLocks noGrp="1"/>
          </p:cNvSpPr>
          <p:nvPr/>
        </p:nvSpPr>
        <p:spPr>
          <a:xfrm>
            <a:off x="2190750" y="2724150"/>
            <a:ext cx="36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495F6"/>
                </a:solidFill>
              </a:defRPr>
            </a:pPr>
            <a:r>
              <a:rPr sz="2100" b="1">
                <a:solidFill>
                  <a:srgbClr val="1495F6"/>
                </a:solidFill>
              </a:rPr>
              <a:t>→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63EDC0EA-0D80-4E0B-9A37-76A9236F52F5}"/>
              </a:ext>
            </a:extLst>
          </p:cNvPr>
          <p:cNvSpPr>
            <a:spLocks noGrp="1"/>
          </p:cNvSpPr>
          <p:nvPr/>
        </p:nvSpPr>
        <p:spPr>
          <a:xfrm>
            <a:off x="2552700" y="2571750"/>
            <a:ext cx="1428750" cy="666750"/>
          </a:xfrm>
          <a:prstGeom prst="roundRect">
            <a:avLst>
              <a:gd name="adj" fmla="val 11429"/>
            </a:avLst>
          </a:prstGeom>
          <a:solidFill>
            <a:srgbClr val="EAF5FF"/>
          </a:solidFill>
          <a:ln w="9525">
            <a:solidFill>
              <a:srgbClr val="B9DB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14D4C21-AE77-4ECC-8B21-FDE44FD58FAF}"/>
              </a:ext>
            </a:extLst>
          </p:cNvPr>
          <p:cNvSpPr>
            <a:spLocks noGrp="1"/>
          </p:cNvSpPr>
          <p:nvPr/>
        </p:nvSpPr>
        <p:spPr>
          <a:xfrm>
            <a:off x="2647950" y="2771775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73A5E"/>
                </a:solidFill>
              </a:defRPr>
            </a:pPr>
            <a:r>
              <a:rPr sz="1275" b="1">
                <a:solidFill>
                  <a:srgbClr val="173A5E"/>
                </a:solidFill>
              </a:rPr>
              <a:t>声纹相似度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E51C3C6-6291-4017-B0E4-0DCBBBCD603B}"/>
              </a:ext>
            </a:extLst>
          </p:cNvPr>
          <p:cNvSpPr>
            <a:spLocks noGrp="1"/>
          </p:cNvSpPr>
          <p:nvPr/>
        </p:nvSpPr>
        <p:spPr>
          <a:xfrm>
            <a:off x="4076700" y="2724150"/>
            <a:ext cx="36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495F6"/>
                </a:solidFill>
              </a:defRPr>
            </a:pPr>
            <a:r>
              <a:rPr sz="2100" b="1">
                <a:solidFill>
                  <a:srgbClr val="1495F6"/>
                </a:solidFill>
              </a:rPr>
              <a:t>→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CC822E79-07C2-41DC-A97B-C14B3C759CD8}"/>
              </a:ext>
            </a:extLst>
          </p:cNvPr>
          <p:cNvSpPr>
            <a:spLocks noGrp="1"/>
          </p:cNvSpPr>
          <p:nvPr/>
        </p:nvSpPr>
        <p:spPr>
          <a:xfrm>
            <a:off x="4438650" y="2571750"/>
            <a:ext cx="14287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B9DB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E3874AD-916F-4C02-94C4-3023EB165398}"/>
              </a:ext>
            </a:extLst>
          </p:cNvPr>
          <p:cNvSpPr>
            <a:spLocks noGrp="1"/>
          </p:cNvSpPr>
          <p:nvPr/>
        </p:nvSpPr>
        <p:spPr>
          <a:xfrm>
            <a:off x="4533900" y="2771775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73A5E"/>
                </a:solidFill>
              </a:defRPr>
            </a:pPr>
            <a:r>
              <a:rPr sz="1275" b="1">
                <a:solidFill>
                  <a:srgbClr val="173A5E"/>
                </a:solidFill>
              </a:rPr>
              <a:t>待识别音频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595E09-245C-4CF6-89B4-D9A8DA7C8BBA}"/>
              </a:ext>
            </a:extLst>
          </p:cNvPr>
          <p:cNvSpPr>
            <a:spLocks noGrp="1"/>
          </p:cNvSpPr>
          <p:nvPr/>
        </p:nvSpPr>
        <p:spPr>
          <a:xfrm>
            <a:off x="5962650" y="2724150"/>
            <a:ext cx="36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495F6"/>
                </a:solidFill>
              </a:defRPr>
            </a:pPr>
            <a:r>
              <a:rPr sz="2100" b="1">
                <a:solidFill>
                  <a:srgbClr val="1495F6"/>
                </a:solidFill>
              </a:rPr>
              <a:t>→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DFD3E7C2-2368-4688-A7AF-42DEBE0CBC00}"/>
              </a:ext>
            </a:extLst>
          </p:cNvPr>
          <p:cNvSpPr>
            <a:spLocks noGrp="1"/>
          </p:cNvSpPr>
          <p:nvPr/>
        </p:nvSpPr>
        <p:spPr>
          <a:xfrm>
            <a:off x="6324600" y="2571750"/>
            <a:ext cx="1428750" cy="666750"/>
          </a:xfrm>
          <a:prstGeom prst="roundRect">
            <a:avLst>
              <a:gd name="adj" fmla="val 11429"/>
            </a:avLst>
          </a:prstGeom>
          <a:solidFill>
            <a:srgbClr val="EAF5FF"/>
          </a:solidFill>
          <a:ln w="9525">
            <a:solidFill>
              <a:srgbClr val="B9DB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4D9EE73-5DF2-4D10-AF45-041D0C50BE32}"/>
              </a:ext>
            </a:extLst>
          </p:cNvPr>
          <p:cNvSpPr>
            <a:spLocks noGrp="1"/>
          </p:cNvSpPr>
          <p:nvPr/>
        </p:nvSpPr>
        <p:spPr>
          <a:xfrm>
            <a:off x="6419850" y="2771775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73A5E"/>
                </a:solidFill>
              </a:defRPr>
            </a:pPr>
            <a:r>
              <a:rPr sz="1275" b="1">
                <a:solidFill>
                  <a:srgbClr val="173A5E"/>
                </a:solidFill>
              </a:rPr>
              <a:t>FunASR转写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D4DDAAD-B801-4FC3-9FD3-A6EAB80B6A62}"/>
              </a:ext>
            </a:extLst>
          </p:cNvPr>
          <p:cNvSpPr>
            <a:spLocks noGrp="1"/>
          </p:cNvSpPr>
          <p:nvPr/>
        </p:nvSpPr>
        <p:spPr>
          <a:xfrm>
            <a:off x="7848600" y="2724150"/>
            <a:ext cx="36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495F6"/>
                </a:solidFill>
              </a:defRPr>
            </a:pPr>
            <a:r>
              <a:rPr sz="2100" b="1">
                <a:solidFill>
                  <a:srgbClr val="1495F6"/>
                </a:solidFill>
              </a:rPr>
              <a:t>→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F905EBC5-56AF-4B0A-83B1-8BF5C36F5A6D}"/>
              </a:ext>
            </a:extLst>
          </p:cNvPr>
          <p:cNvSpPr>
            <a:spLocks noGrp="1"/>
          </p:cNvSpPr>
          <p:nvPr/>
        </p:nvSpPr>
        <p:spPr>
          <a:xfrm>
            <a:off x="8210550" y="2571750"/>
            <a:ext cx="14287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B9DB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C729A7A-B53E-491E-8759-7E4794FEC9F2}"/>
              </a:ext>
            </a:extLst>
          </p:cNvPr>
          <p:cNvSpPr>
            <a:spLocks noGrp="1"/>
          </p:cNvSpPr>
          <p:nvPr/>
        </p:nvSpPr>
        <p:spPr>
          <a:xfrm>
            <a:off x="8305800" y="2771775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73A5E"/>
                </a:solidFill>
              </a:defRPr>
            </a:pPr>
            <a:r>
              <a:rPr sz="1275" b="1">
                <a:solidFill>
                  <a:srgbClr val="173A5E"/>
                </a:solidFill>
              </a:rPr>
              <a:t>文本后处理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659B011-CBCC-461D-9E68-7C49D1EDB10A}"/>
              </a:ext>
            </a:extLst>
          </p:cNvPr>
          <p:cNvSpPr>
            <a:spLocks noGrp="1"/>
          </p:cNvSpPr>
          <p:nvPr/>
        </p:nvSpPr>
        <p:spPr>
          <a:xfrm>
            <a:off x="9734550" y="2724150"/>
            <a:ext cx="36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495F6"/>
                </a:solidFill>
              </a:defRPr>
            </a:pPr>
            <a:r>
              <a:rPr sz="2100" b="1">
                <a:solidFill>
                  <a:srgbClr val="1495F6"/>
                </a:solidFill>
              </a:rPr>
              <a:t>→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7E869F76-9B8B-4E76-9637-2675D95209A5}"/>
              </a:ext>
            </a:extLst>
          </p:cNvPr>
          <p:cNvSpPr>
            <a:spLocks noGrp="1"/>
          </p:cNvSpPr>
          <p:nvPr/>
        </p:nvSpPr>
        <p:spPr>
          <a:xfrm>
            <a:off x="10096500" y="2571750"/>
            <a:ext cx="1428750" cy="666750"/>
          </a:xfrm>
          <a:prstGeom prst="roundRect">
            <a:avLst>
              <a:gd name="adj" fmla="val 11429"/>
            </a:avLst>
          </a:prstGeom>
          <a:solidFill>
            <a:srgbClr val="EAF5FF"/>
          </a:solidFill>
          <a:ln w="9525">
            <a:solidFill>
              <a:srgbClr val="B9DB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85CC89B-1557-45CA-8E1A-7D1735BC9AD1}"/>
              </a:ext>
            </a:extLst>
          </p:cNvPr>
          <p:cNvSpPr>
            <a:spLocks noGrp="1"/>
          </p:cNvSpPr>
          <p:nvPr/>
        </p:nvSpPr>
        <p:spPr>
          <a:xfrm>
            <a:off x="10191750" y="2771775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73A5E"/>
                </a:solidFill>
              </a:defRPr>
            </a:pPr>
            <a:r>
              <a:rPr sz="1275" b="1">
                <a:solidFill>
                  <a:srgbClr val="173A5E"/>
                </a:solidFill>
              </a:rPr>
              <a:t>最终输出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CE2ED1A2-A67A-441B-9517-58B15CB1E4FC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32385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784C7190-B84E-4DEA-99F6-2C509BB7721F}"/>
              </a:ext>
            </a:extLst>
          </p:cNvPr>
          <p:cNvSpPr>
            <a:spLocks noGrp="1"/>
          </p:cNvSpPr>
          <p:nvPr/>
        </p:nvSpPr>
        <p:spPr>
          <a:xfrm>
            <a:off x="857250" y="41719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9B996C3-63D8-4B4B-94F5-EFFE4742C6A7}"/>
              </a:ext>
            </a:extLst>
          </p:cNvPr>
          <p:cNvSpPr>
            <a:spLocks noGrp="1"/>
          </p:cNvSpPr>
          <p:nvPr/>
        </p:nvSpPr>
        <p:spPr>
          <a:xfrm>
            <a:off x="857250" y="4229100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2C12CC3-6563-4BB2-A35C-B641E310A078}"/>
              </a:ext>
            </a:extLst>
          </p:cNvPr>
          <p:cNvSpPr>
            <a:spLocks noGrp="1"/>
          </p:cNvSpPr>
          <p:nvPr/>
        </p:nvSpPr>
        <p:spPr>
          <a:xfrm>
            <a:off x="1352550" y="41910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3A5E"/>
                </a:solidFill>
              </a:defRPr>
            </a:pPr>
            <a:r>
              <a:rPr sz="1350" b="1">
                <a:solidFill>
                  <a:srgbClr val="173A5E"/>
                </a:solidFill>
              </a:rPr>
              <a:t>阶段一：基线闭环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B529062-AD84-40E6-A711-073C19ED3BBF}"/>
              </a:ext>
            </a:extLst>
          </p:cNvPr>
          <p:cNvSpPr>
            <a:spLocks noGrp="1"/>
          </p:cNvSpPr>
          <p:nvPr/>
        </p:nvSpPr>
        <p:spPr>
          <a:xfrm>
            <a:off x="1352550" y="4572000"/>
            <a:ext cx="238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7083"/>
                </a:solidFill>
              </a:defRPr>
            </a:pPr>
            <a:r>
              <a:rPr sz="1050" b="0">
                <a:solidFill>
                  <a:srgbClr val="5D7083"/>
                </a:solidFill>
              </a:rPr>
              <a:t>跑通现有工程，得到第一版 CER、RR、耗时和提交 JSON。</a:t>
            </a: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A24471A7-184B-4C3E-9B43-E8823131AD04}"/>
              </a:ext>
            </a:extLst>
          </p:cNvPr>
          <p:cNvSpPr>
            <a:spLocks noGrp="1"/>
          </p:cNvSpPr>
          <p:nvPr/>
        </p:nvSpPr>
        <p:spPr>
          <a:xfrm>
            <a:off x="4476750" y="4000500"/>
            <a:ext cx="32385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02D55AD3-334A-45C8-9851-F5F2B86745B1}"/>
              </a:ext>
            </a:extLst>
          </p:cNvPr>
          <p:cNvSpPr>
            <a:spLocks noGrp="1"/>
          </p:cNvSpPr>
          <p:nvPr/>
        </p:nvSpPr>
        <p:spPr>
          <a:xfrm>
            <a:off x="4648200" y="41719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F7370BD-91DD-4E47-BA69-CE65581A2BAC}"/>
              </a:ext>
            </a:extLst>
          </p:cNvPr>
          <p:cNvSpPr>
            <a:spLocks noGrp="1"/>
          </p:cNvSpPr>
          <p:nvPr/>
        </p:nvSpPr>
        <p:spPr>
          <a:xfrm>
            <a:off x="4648200" y="4229100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C2115D6-DE43-4BB2-B4D8-47B7E1B74F82}"/>
              </a:ext>
            </a:extLst>
          </p:cNvPr>
          <p:cNvSpPr>
            <a:spLocks noGrp="1"/>
          </p:cNvSpPr>
          <p:nvPr/>
        </p:nvSpPr>
        <p:spPr>
          <a:xfrm>
            <a:off x="5143500" y="41910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3A5E"/>
                </a:solidFill>
              </a:defRPr>
            </a:pPr>
            <a:r>
              <a:rPr sz="1350" b="1">
                <a:solidFill>
                  <a:srgbClr val="173A5E"/>
                </a:solidFill>
              </a:rPr>
              <a:t>阶段二：专项优化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4530E9C-A19B-487D-A28A-26A8B0533B54}"/>
              </a:ext>
            </a:extLst>
          </p:cNvPr>
          <p:cNvSpPr>
            <a:spLocks noGrp="1"/>
          </p:cNvSpPr>
          <p:nvPr/>
        </p:nvSpPr>
        <p:spPr>
          <a:xfrm>
            <a:off x="5143500" y="4572000"/>
            <a:ext cx="238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7083"/>
                </a:solidFill>
              </a:defRPr>
            </a:pPr>
            <a:r>
              <a:rPr sz="1050" b="0">
                <a:solidFill>
                  <a:srgbClr val="5D7083"/>
                </a:solidFill>
              </a:rPr>
              <a:t>调阈值、做文本纠错、分析困难样本，优先提升 RR 与 CER。</a:t>
            </a:r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E4F60940-8E3D-4EEE-B89B-63F36B4D845F}"/>
              </a:ext>
            </a:extLst>
          </p:cNvPr>
          <p:cNvSpPr>
            <a:spLocks noGrp="1"/>
          </p:cNvSpPr>
          <p:nvPr/>
        </p:nvSpPr>
        <p:spPr>
          <a:xfrm>
            <a:off x="8267700" y="4000500"/>
            <a:ext cx="323850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84A0D3D2-5ECA-491A-8DE5-BE4DFED33926}"/>
              </a:ext>
            </a:extLst>
          </p:cNvPr>
          <p:cNvSpPr>
            <a:spLocks noGrp="1"/>
          </p:cNvSpPr>
          <p:nvPr/>
        </p:nvSpPr>
        <p:spPr>
          <a:xfrm>
            <a:off x="8439150" y="41719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3D7C902-6B62-4F5E-9982-6C326998FBB1}"/>
              </a:ext>
            </a:extLst>
          </p:cNvPr>
          <p:cNvSpPr>
            <a:spLocks noGrp="1"/>
          </p:cNvSpPr>
          <p:nvPr/>
        </p:nvSpPr>
        <p:spPr>
          <a:xfrm>
            <a:off x="8439150" y="4229100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780A76D-A936-497A-8113-CD2CE01B2E6A}"/>
              </a:ext>
            </a:extLst>
          </p:cNvPr>
          <p:cNvSpPr>
            <a:spLocks noGrp="1"/>
          </p:cNvSpPr>
          <p:nvPr/>
        </p:nvSpPr>
        <p:spPr>
          <a:xfrm>
            <a:off x="8934450" y="41910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3A5E"/>
                </a:solidFill>
              </a:defRPr>
            </a:pPr>
            <a:r>
              <a:rPr sz="1350" b="1">
                <a:solidFill>
                  <a:srgbClr val="173A5E"/>
                </a:solidFill>
              </a:rPr>
              <a:t>阶段三：增强训练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2532334-4C14-4112-8618-65652EED2223}"/>
              </a:ext>
            </a:extLst>
          </p:cNvPr>
          <p:cNvSpPr>
            <a:spLocks noGrp="1"/>
          </p:cNvSpPr>
          <p:nvPr/>
        </p:nvSpPr>
        <p:spPr>
          <a:xfrm>
            <a:off x="8934450" y="4572000"/>
            <a:ext cx="2381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7083"/>
                </a:solidFill>
              </a:defRPr>
            </a:pPr>
            <a:r>
              <a:rPr sz="1050" b="0">
                <a:solidFill>
                  <a:srgbClr val="5D7083"/>
                </a:solidFill>
              </a:rPr>
              <a:t>在瓶颈明确后，再尝试轻量门控、目标说话人提纯或 FunASR 微调。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5A3780A-09D2-4BE6-A259-76A8F17D75B2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1047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495F6"/>
                </a:solidFill>
              </a:defRPr>
            </a:pPr>
            <a:r>
              <a:rPr sz="1425" b="1">
                <a:solidFill>
                  <a:srgbClr val="1495F6"/>
                </a:solidFill>
              </a:rPr>
              <a:t>原则：每一步都要能被数据集A验证，先可复现，再追求复杂模型。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85B59DB-74BE-42F3-802F-C55489CA6E48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647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B8DA0"/>
                </a:solidFill>
              </a:defRPr>
            </a:pPr>
            <a:r>
              <a:rPr sz="825" b="0">
                <a:solidFill>
                  <a:srgbClr val="7B8DA0"/>
                </a:solidFill>
              </a:rPr>
              <a:t>国家级大学生创新创业训练计划 · 创新训练项目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9B64FE5-F81F-410A-B506-6D9D3188AACE}"/>
              </a:ext>
            </a:extLst>
          </p:cNvPr>
          <p:cNvSpPr>
            <a:spLocks noGrp="1"/>
          </p:cNvSpPr>
          <p:nvPr/>
        </p:nvSpPr>
        <p:spPr>
          <a:xfrm>
            <a:off x="8896350" y="6515100"/>
            <a:ext cx="274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DA0"/>
                </a:solidFill>
              </a:defRPr>
            </a:pPr>
            <a:r>
              <a:rPr sz="825" b="0">
                <a:solidFill>
                  <a:srgbClr val="7B8DA0"/>
                </a:solidFill>
              </a:rPr>
              <a:t>杭州电子科技大学</a:t>
            </a:r>
          </a:p>
        </p:txBody>
      </p:sp>
    </p:spTree>
    <p:extLst>
      <p:ext uri="{BB962C8B-B14F-4D97-AF65-F5344CB8AC3E}">
        <p14:creationId xmlns:p14="http://schemas.microsoft.com/office/powerpoint/2010/main" val="1059937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FB218A44-B3C6-4554-8D5E-D7606C41D9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173A5E"/>
          </a:solidFill>
          <a:ln w="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FEFDFE5E-F692-472D-95CB-DE825A5969C3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38100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9E27B6-A1F4-4074-B246-ED22C9403025}"/>
              </a:ext>
            </a:extLst>
          </p:cNvPr>
          <p:cNvSpPr>
            <a:spLocks noGrp="1"/>
          </p:cNvSpPr>
          <p:nvPr/>
        </p:nvSpPr>
        <p:spPr>
          <a:xfrm>
            <a:off x="781050" y="409575"/>
            <a:ext cx="838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495F6"/>
                </a:solidFill>
              </a:defRPr>
            </a:pPr>
            <a:r>
              <a:rPr sz="1125" b="1">
                <a:solidFill>
                  <a:srgbClr val="1495F6"/>
                </a:solidFill>
              </a:rPr>
              <a:t>八、团队分工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BDD6530-D63D-4A48-B5C3-728B103607B7}"/>
              </a:ext>
            </a:extLst>
          </p:cNvPr>
          <p:cNvSpPr>
            <a:spLocks noGrp="1"/>
          </p:cNvSpPr>
          <p:nvPr/>
        </p:nvSpPr>
        <p:spPr>
          <a:xfrm>
            <a:off x="781050" y="657225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3A5E"/>
                </a:solidFill>
              </a:defRPr>
            </a:pPr>
            <a:r>
              <a:rPr sz="1875" b="1">
                <a:solidFill>
                  <a:srgbClr val="173A5E"/>
                </a:solidFill>
              </a:rPr>
              <a:t>前期并联学习，后期统一集成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492EF6-5307-46B4-A74A-8F95547E064D}"/>
              </a:ext>
            </a:extLst>
          </p:cNvPr>
          <p:cNvSpPr>
            <a:spLocks noGrp="1"/>
          </p:cNvSpPr>
          <p:nvPr/>
        </p:nvSpPr>
        <p:spPr>
          <a:xfrm>
            <a:off x="552450" y="1228725"/>
            <a:ext cx="11087100" cy="19050"/>
          </a:xfrm>
          <a:prstGeom prst="rect">
            <a:avLst/>
          </a:prstGeom>
          <a:solidFill>
            <a:srgbClr val="D9E3EE"/>
          </a:solidFill>
          <a:ln w="0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2C0AE1-EBC4-439A-A100-A07D5DF817FE}"/>
              </a:ext>
            </a:extLst>
          </p:cNvPr>
          <p:cNvSpPr>
            <a:spLocks noGrp="1"/>
          </p:cNvSpPr>
          <p:nvPr/>
        </p:nvSpPr>
        <p:spPr>
          <a:xfrm>
            <a:off x="10058400" y="9334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C7B8A"/>
                </a:solidFill>
              </a:defRPr>
            </a:pPr>
            <a:r>
              <a:rPr sz="900" b="0">
                <a:solidFill>
                  <a:srgbClr val="6C7B8A"/>
                </a:solidFill>
              </a:rPr>
              <a:t>08 / 13</a:t>
            </a:r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030621" y="457200"/>
            <a:ext cx="2474659" cy="832104"/>
          </a:xfrm>
          <a:prstGeom prst="rect">
            <a:avLst/>
          </a:prstGeom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CC0EEF84-3AB4-4238-BE96-4AF8A9F9E9A6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1087100" cy="514350"/>
          </a:xfrm>
          <a:prstGeom prst="roundRect">
            <a:avLst>
              <a:gd name="adj" fmla="val 14815"/>
            </a:avLst>
          </a:prstGeom>
          <a:solidFill>
            <a:srgbClr val="173A5E"/>
          </a:solidFill>
          <a:ln w="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E0C042-613D-4FD5-B34D-305349B54120}"/>
              </a:ext>
            </a:extLst>
          </p:cNvPr>
          <p:cNvSpPr>
            <a:spLocks noGrp="1"/>
          </p:cNvSpPr>
          <p:nvPr/>
        </p:nvSpPr>
        <p:spPr>
          <a:xfrm>
            <a:off x="819150" y="1609725"/>
            <a:ext cx="1047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分工不是固定派活，先按专业背景和项目链路试运行一周，再根据实际情况调整。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44C0B5BB-B71A-4B55-9C01-EE6632CE42C6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10572750" cy="381000"/>
          </a:xfrm>
          <a:prstGeom prst="roundRect">
            <a:avLst>
              <a:gd name="adj" fmla="val 20000"/>
            </a:avLst>
          </a:prstGeom>
          <a:solidFill>
            <a:srgbClr val="173A5E"/>
          </a:solidFill>
          <a:ln w="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B7CFBD8-D325-4950-94EA-88F3B47BEA75}"/>
              </a:ext>
            </a:extLst>
          </p:cNvPr>
          <p:cNvSpPr>
            <a:spLocks noGrp="1"/>
          </p:cNvSpPr>
          <p:nvPr/>
        </p:nvSpPr>
        <p:spPr>
          <a:xfrm>
            <a:off x="800100" y="2400300"/>
            <a:ext cx="628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成员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5B85BB3-C58D-4926-B68E-C51DA276B720}"/>
              </a:ext>
            </a:extLst>
          </p:cNvPr>
          <p:cNvSpPr>
            <a:spLocks noGrp="1"/>
          </p:cNvSpPr>
          <p:nvPr/>
        </p:nvSpPr>
        <p:spPr>
          <a:xfrm>
            <a:off x="1828800" y="2400300"/>
            <a:ext cx="1962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模块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1704350-94D9-40BB-AF7A-764C1BE4306F}"/>
              </a:ext>
            </a:extLst>
          </p:cNvPr>
          <p:cNvSpPr>
            <a:spLocks noGrp="1"/>
          </p:cNvSpPr>
          <p:nvPr/>
        </p:nvSpPr>
        <p:spPr>
          <a:xfrm>
            <a:off x="4210050" y="2400300"/>
            <a:ext cx="6724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主要负责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F1298B9-1AED-4341-BD7F-D8F09E3C82C2}"/>
              </a:ext>
            </a:extLst>
          </p:cNvPr>
          <p:cNvSpPr>
            <a:spLocks noGrp="1"/>
          </p:cNvSpPr>
          <p:nvPr/>
        </p:nvSpPr>
        <p:spPr>
          <a:xfrm>
            <a:off x="685800" y="2743200"/>
            <a:ext cx="105727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BEC158-DFFD-4BC5-8363-57753E2501E0}"/>
              </a:ext>
            </a:extLst>
          </p:cNvPr>
          <p:cNvSpPr>
            <a:spLocks noGrp="1"/>
          </p:cNvSpPr>
          <p:nvPr/>
        </p:nvSpPr>
        <p:spPr>
          <a:xfrm>
            <a:off x="800100" y="2857500"/>
            <a:ext cx="628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495F6"/>
                </a:solidFill>
              </a:defRPr>
            </a:pPr>
            <a:r>
              <a:rPr sz="1050" b="1">
                <a:solidFill>
                  <a:srgbClr val="1495F6"/>
                </a:solidFill>
              </a:rPr>
              <a:t>1号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4F1DBD6-44A0-465D-9730-EE9865DE7E4A}"/>
              </a:ext>
            </a:extLst>
          </p:cNvPr>
          <p:cNvSpPr>
            <a:spLocks noGrp="1"/>
          </p:cNvSpPr>
          <p:nvPr/>
        </p:nvSpPr>
        <p:spPr>
          <a:xfrm>
            <a:off x="1828800" y="2857500"/>
            <a:ext cx="1962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9324A"/>
                </a:solidFill>
              </a:defRPr>
            </a:pPr>
            <a:r>
              <a:rPr sz="1050" b="1">
                <a:solidFill>
                  <a:srgbClr val="19324A"/>
                </a:solidFill>
              </a:rPr>
              <a:t>负责人 / 总集成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4D06B91-2E8F-41A8-93E7-8F1EB90D6802}"/>
              </a:ext>
            </a:extLst>
          </p:cNvPr>
          <p:cNvSpPr>
            <a:spLocks noGrp="1"/>
          </p:cNvSpPr>
          <p:nvPr/>
        </p:nvSpPr>
        <p:spPr>
          <a:xfrm>
            <a:off x="4210050" y="2857500"/>
            <a:ext cx="6724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9324A"/>
                </a:solidFill>
              </a:defRPr>
            </a:pPr>
            <a:r>
              <a:rPr sz="1050" b="0">
                <a:solidFill>
                  <a:srgbClr val="19324A"/>
                </a:solidFill>
              </a:rPr>
              <a:t>技术路线、进度协调、最终提交与答辩逻辑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F757596-28ED-4B21-89D0-0CA5F13EE9C8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10572750" cy="438150"/>
          </a:xfrm>
          <a:prstGeom prst="rect">
            <a:avLst/>
          </a:prstGeom>
          <a:solidFill>
            <a:srgbClr val="F5F8FB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A894ACF-E22F-4CA4-A51B-B90ABA58539E}"/>
              </a:ext>
            </a:extLst>
          </p:cNvPr>
          <p:cNvSpPr>
            <a:spLocks noGrp="1"/>
          </p:cNvSpPr>
          <p:nvPr/>
        </p:nvSpPr>
        <p:spPr>
          <a:xfrm>
            <a:off x="800100" y="3352800"/>
            <a:ext cx="628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495F6"/>
                </a:solidFill>
              </a:defRPr>
            </a:pPr>
            <a:r>
              <a:rPr sz="1050" b="1">
                <a:solidFill>
                  <a:srgbClr val="1495F6"/>
                </a:solidFill>
              </a:rPr>
              <a:t>2号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335F46E-FE5E-4A44-A317-E409547EA178}"/>
              </a:ext>
            </a:extLst>
          </p:cNvPr>
          <p:cNvSpPr>
            <a:spLocks noGrp="1"/>
          </p:cNvSpPr>
          <p:nvPr/>
        </p:nvSpPr>
        <p:spPr>
          <a:xfrm>
            <a:off x="1828800" y="3352800"/>
            <a:ext cx="1962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9324A"/>
                </a:solidFill>
              </a:defRPr>
            </a:pPr>
            <a:r>
              <a:rPr sz="1050" b="1">
                <a:solidFill>
                  <a:srgbClr val="19324A"/>
                </a:solidFill>
              </a:rPr>
              <a:t>声纹拒识模块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9AFAFAE-F7BE-433C-A5D3-0D7412B0B62C}"/>
              </a:ext>
            </a:extLst>
          </p:cNvPr>
          <p:cNvSpPr>
            <a:spLocks noGrp="1"/>
          </p:cNvSpPr>
          <p:nvPr/>
        </p:nvSpPr>
        <p:spPr>
          <a:xfrm>
            <a:off x="4210050" y="3352800"/>
            <a:ext cx="6724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9324A"/>
                </a:solidFill>
              </a:defRPr>
            </a:pPr>
            <a:r>
              <a:rPr sz="1050" b="0">
                <a:solidFill>
                  <a:srgbClr val="19324A"/>
                </a:solidFill>
              </a:rPr>
              <a:t>CAM++、相似度、阈值搜索、误拒误放分析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83DCDD2-47F7-4619-BE9E-4A1E177D458B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105727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4D1BCEA-3569-4F7D-8304-B3F55D34CAE1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628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495F6"/>
                </a:solidFill>
              </a:defRPr>
            </a:pPr>
            <a:r>
              <a:rPr sz="1050" b="1">
                <a:solidFill>
                  <a:srgbClr val="1495F6"/>
                </a:solidFill>
              </a:rPr>
              <a:t>3号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135A50C-8C2A-47F7-98D5-09FBBE9D7D9D}"/>
              </a:ext>
            </a:extLst>
          </p:cNvPr>
          <p:cNvSpPr>
            <a:spLocks noGrp="1"/>
          </p:cNvSpPr>
          <p:nvPr/>
        </p:nvSpPr>
        <p:spPr>
          <a:xfrm>
            <a:off x="1828800" y="3848100"/>
            <a:ext cx="1962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9324A"/>
                </a:solidFill>
              </a:defRPr>
            </a:pPr>
            <a:r>
              <a:rPr sz="1050" b="1">
                <a:solidFill>
                  <a:srgbClr val="19324A"/>
                </a:solidFill>
              </a:rPr>
              <a:t>ASR识别模块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543B968-7DAE-44F5-B830-AEF31A5295E1}"/>
              </a:ext>
            </a:extLst>
          </p:cNvPr>
          <p:cNvSpPr>
            <a:spLocks noGrp="1"/>
          </p:cNvSpPr>
          <p:nvPr/>
        </p:nvSpPr>
        <p:spPr>
          <a:xfrm>
            <a:off x="4210050" y="3848100"/>
            <a:ext cx="6724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9324A"/>
                </a:solidFill>
              </a:defRPr>
            </a:pPr>
            <a:r>
              <a:rPr sz="1050" b="0">
                <a:solidFill>
                  <a:srgbClr val="19324A"/>
                </a:solidFill>
              </a:rPr>
              <a:t>FunASR、语音转文字、识别错误分析与热词尝试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856705F-9948-4E83-AED7-EB6FCD57AC35}"/>
              </a:ext>
            </a:extLst>
          </p:cNvPr>
          <p:cNvSpPr>
            <a:spLocks noGrp="1"/>
          </p:cNvSpPr>
          <p:nvPr/>
        </p:nvSpPr>
        <p:spPr>
          <a:xfrm>
            <a:off x="685800" y="4229100"/>
            <a:ext cx="10572750" cy="438150"/>
          </a:xfrm>
          <a:prstGeom prst="rect">
            <a:avLst/>
          </a:prstGeom>
          <a:solidFill>
            <a:srgbClr val="F5F8FB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1E9D3D8-C003-4DFF-9DC0-489CE8574FD1}"/>
              </a:ext>
            </a:extLst>
          </p:cNvPr>
          <p:cNvSpPr>
            <a:spLocks noGrp="1"/>
          </p:cNvSpPr>
          <p:nvPr/>
        </p:nvSpPr>
        <p:spPr>
          <a:xfrm>
            <a:off x="800100" y="4343400"/>
            <a:ext cx="628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495F6"/>
                </a:solidFill>
              </a:defRPr>
            </a:pPr>
            <a:r>
              <a:rPr sz="1050" b="1">
                <a:solidFill>
                  <a:srgbClr val="1495F6"/>
                </a:solidFill>
              </a:rPr>
              <a:t>4号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277529E-6998-46AA-BAB6-1C35ADBAFA1F}"/>
              </a:ext>
            </a:extLst>
          </p:cNvPr>
          <p:cNvSpPr>
            <a:spLocks noGrp="1"/>
          </p:cNvSpPr>
          <p:nvPr/>
        </p:nvSpPr>
        <p:spPr>
          <a:xfrm>
            <a:off x="1828800" y="4343400"/>
            <a:ext cx="1962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9324A"/>
                </a:solidFill>
              </a:defRPr>
            </a:pPr>
            <a:r>
              <a:rPr sz="1050" b="1">
                <a:solidFill>
                  <a:srgbClr val="19324A"/>
                </a:solidFill>
              </a:rPr>
              <a:t>数据评测模块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6195581-5B76-4BF9-9396-805085ECB90C}"/>
              </a:ext>
            </a:extLst>
          </p:cNvPr>
          <p:cNvSpPr>
            <a:spLocks noGrp="1"/>
          </p:cNvSpPr>
          <p:nvPr/>
        </p:nvSpPr>
        <p:spPr>
          <a:xfrm>
            <a:off x="4210050" y="4343400"/>
            <a:ext cx="6724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9324A"/>
                </a:solidFill>
              </a:defRPr>
            </a:pPr>
            <a:r>
              <a:rPr sz="1050" b="0">
                <a:solidFill>
                  <a:srgbClr val="19324A"/>
                </a:solidFill>
              </a:rPr>
              <a:t>datasetA、CER/RR、耗时统计、实验记录表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710E97D-4B7E-4231-ABE2-1F3AD30EA1FF}"/>
              </a:ext>
            </a:extLst>
          </p:cNvPr>
          <p:cNvSpPr>
            <a:spLocks noGrp="1"/>
          </p:cNvSpPr>
          <p:nvPr/>
        </p:nvSpPr>
        <p:spPr>
          <a:xfrm>
            <a:off x="685800" y="4724400"/>
            <a:ext cx="105727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0626C24-8D63-4253-BE2E-F48F8A77CD8F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628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495F6"/>
                </a:solidFill>
              </a:defRPr>
            </a:pPr>
            <a:r>
              <a:rPr sz="1050" b="1">
                <a:solidFill>
                  <a:srgbClr val="1495F6"/>
                </a:solidFill>
              </a:rPr>
              <a:t>5号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0FEA341-E62C-4009-A159-92C1C252C586}"/>
              </a:ext>
            </a:extLst>
          </p:cNvPr>
          <p:cNvSpPr>
            <a:spLocks noGrp="1"/>
          </p:cNvSpPr>
          <p:nvPr/>
        </p:nvSpPr>
        <p:spPr>
          <a:xfrm>
            <a:off x="1828800" y="4838700"/>
            <a:ext cx="1962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9324A"/>
                </a:solidFill>
              </a:defRPr>
            </a:pPr>
            <a:r>
              <a:rPr sz="1050" b="1">
                <a:solidFill>
                  <a:srgbClr val="19324A"/>
                </a:solidFill>
              </a:rPr>
              <a:t>工程提交模块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05F7743-506C-4993-90C1-3EE98100314E}"/>
              </a:ext>
            </a:extLst>
          </p:cNvPr>
          <p:cNvSpPr>
            <a:spLocks noGrp="1"/>
          </p:cNvSpPr>
          <p:nvPr/>
        </p:nvSpPr>
        <p:spPr>
          <a:xfrm>
            <a:off x="4210050" y="4838700"/>
            <a:ext cx="6724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9324A"/>
                </a:solidFill>
              </a:defRPr>
            </a:pPr>
            <a:r>
              <a:rPr sz="1050" b="0">
                <a:solidFill>
                  <a:srgbClr val="19324A"/>
                </a:solidFill>
              </a:rPr>
              <a:t>环境、推理脚本、JSON格式、效率与打包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7AA28FA-F127-41AB-AD34-674A3F14FD5B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10572750" cy="438150"/>
          </a:xfrm>
          <a:prstGeom prst="rect">
            <a:avLst/>
          </a:prstGeom>
          <a:solidFill>
            <a:srgbClr val="F5F8FB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68A96C7-E9A2-42AC-B077-FC68EE22B960}"/>
              </a:ext>
            </a:extLst>
          </p:cNvPr>
          <p:cNvSpPr>
            <a:spLocks noGrp="1"/>
          </p:cNvSpPr>
          <p:nvPr/>
        </p:nvSpPr>
        <p:spPr>
          <a:xfrm>
            <a:off x="800100" y="5334000"/>
            <a:ext cx="628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495F6"/>
                </a:solidFill>
              </a:defRPr>
            </a:pPr>
            <a:r>
              <a:rPr sz="1050" b="1">
                <a:solidFill>
                  <a:srgbClr val="1495F6"/>
                </a:solidFill>
              </a:rPr>
              <a:t>6号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577D0B8-66ED-476D-8E3A-CD4403AB5D41}"/>
              </a:ext>
            </a:extLst>
          </p:cNvPr>
          <p:cNvSpPr>
            <a:spLocks noGrp="1"/>
          </p:cNvSpPr>
          <p:nvPr/>
        </p:nvSpPr>
        <p:spPr>
          <a:xfrm>
            <a:off x="1828800" y="5334000"/>
            <a:ext cx="1962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9324A"/>
                </a:solidFill>
              </a:defRPr>
            </a:pPr>
            <a:r>
              <a:rPr sz="1050" b="1">
                <a:solidFill>
                  <a:srgbClr val="19324A"/>
                </a:solidFill>
              </a:rPr>
              <a:t>展示答辩模块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C46595E-5F28-4556-8236-09A187281431}"/>
              </a:ext>
            </a:extLst>
          </p:cNvPr>
          <p:cNvSpPr>
            <a:spLocks noGrp="1"/>
          </p:cNvSpPr>
          <p:nvPr/>
        </p:nvSpPr>
        <p:spPr>
          <a:xfrm>
            <a:off x="4210050" y="5334000"/>
            <a:ext cx="6724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9324A"/>
                </a:solidFill>
              </a:defRPr>
            </a:pPr>
            <a:r>
              <a:rPr sz="1050" b="0">
                <a:solidFill>
                  <a:srgbClr val="19324A"/>
                </a:solidFill>
              </a:rPr>
              <a:t>PPT、架构图、流程图、时间线与表达设计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BDDF44C-2C18-444F-9545-C4D1D9FC3C0F}"/>
              </a:ext>
            </a:extLst>
          </p:cNvPr>
          <p:cNvSpPr>
            <a:spLocks noGrp="1"/>
          </p:cNvSpPr>
          <p:nvPr/>
        </p:nvSpPr>
        <p:spPr>
          <a:xfrm>
            <a:off x="685800" y="596265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495F6"/>
                </a:solidFill>
              </a:defRPr>
            </a:pPr>
            <a:r>
              <a:rPr sz="1350" b="1">
                <a:solidFill>
                  <a:srgbClr val="1495F6"/>
                </a:solidFill>
              </a:rPr>
              <a:t>讲法建议：大家先认领模块，不合适下周调；每个模块只要求先跑通一个小任务。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C91573F-4252-42CA-B197-54349AE0B13A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647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B8DA0"/>
                </a:solidFill>
              </a:defRPr>
            </a:pPr>
            <a:r>
              <a:rPr sz="825" b="0">
                <a:solidFill>
                  <a:srgbClr val="7B8DA0"/>
                </a:solidFill>
              </a:rPr>
              <a:t>国家级大学生创新创业训练计划 · 创新训练项目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F65F6E0-C8A8-4C11-A3A6-BDBE7FF82A94}"/>
              </a:ext>
            </a:extLst>
          </p:cNvPr>
          <p:cNvSpPr>
            <a:spLocks noGrp="1"/>
          </p:cNvSpPr>
          <p:nvPr/>
        </p:nvSpPr>
        <p:spPr>
          <a:xfrm>
            <a:off x="8896350" y="6515100"/>
            <a:ext cx="274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DA0"/>
                </a:solidFill>
              </a:defRPr>
            </a:pPr>
            <a:r>
              <a:rPr sz="825" b="0">
                <a:solidFill>
                  <a:srgbClr val="7B8DA0"/>
                </a:solidFill>
              </a:rPr>
              <a:t>杭州电子科技大学</a:t>
            </a:r>
          </a:p>
        </p:txBody>
      </p:sp>
    </p:spTree>
    <p:extLst>
      <p:ext uri="{BB962C8B-B14F-4D97-AF65-F5344CB8AC3E}">
        <p14:creationId xmlns:p14="http://schemas.microsoft.com/office/powerpoint/2010/main" val="864775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39D2B17-9A8A-4271-BBD5-F88C886FBF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173A5E"/>
          </a:solidFill>
          <a:ln w="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15582509-8255-432D-95C0-1EFF6635096C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38100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95D1237-FD76-4AFC-82F7-729B5256417C}"/>
              </a:ext>
            </a:extLst>
          </p:cNvPr>
          <p:cNvSpPr>
            <a:spLocks noGrp="1"/>
          </p:cNvSpPr>
          <p:nvPr/>
        </p:nvSpPr>
        <p:spPr>
          <a:xfrm>
            <a:off x="781050" y="409575"/>
            <a:ext cx="838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495F6"/>
                </a:solidFill>
              </a:defRPr>
            </a:pPr>
            <a:r>
              <a:rPr sz="1125" b="1">
                <a:solidFill>
                  <a:srgbClr val="1495F6"/>
                </a:solidFill>
              </a:rPr>
              <a:t>九、时间线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EAF056D-A8EA-4C98-A7DF-23931E65E754}"/>
              </a:ext>
            </a:extLst>
          </p:cNvPr>
          <p:cNvSpPr>
            <a:spLocks noGrp="1"/>
          </p:cNvSpPr>
          <p:nvPr/>
        </p:nvSpPr>
        <p:spPr>
          <a:xfrm>
            <a:off x="781050" y="657225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3A5E"/>
                </a:solidFill>
              </a:defRPr>
            </a:pPr>
            <a:r>
              <a:rPr sz="1875" b="1">
                <a:solidFill>
                  <a:srgbClr val="173A5E"/>
                </a:solidFill>
              </a:rPr>
              <a:t>按提交截止倒推，先稳住第一版可提交系统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52F5EE2-EABF-406E-A779-ECB32FE3A00B}"/>
              </a:ext>
            </a:extLst>
          </p:cNvPr>
          <p:cNvSpPr>
            <a:spLocks noGrp="1"/>
          </p:cNvSpPr>
          <p:nvPr/>
        </p:nvSpPr>
        <p:spPr>
          <a:xfrm>
            <a:off x="552450" y="1228725"/>
            <a:ext cx="11087100" cy="19050"/>
          </a:xfrm>
          <a:prstGeom prst="rect">
            <a:avLst/>
          </a:prstGeom>
          <a:solidFill>
            <a:srgbClr val="D9E3EE"/>
          </a:solidFill>
          <a:ln w="0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6761392-914A-4105-ADF4-507D4FEC666E}"/>
              </a:ext>
            </a:extLst>
          </p:cNvPr>
          <p:cNvSpPr>
            <a:spLocks noGrp="1"/>
          </p:cNvSpPr>
          <p:nvPr/>
        </p:nvSpPr>
        <p:spPr>
          <a:xfrm>
            <a:off x="10058400" y="9334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C7B8A"/>
                </a:solidFill>
              </a:defRPr>
            </a:pPr>
            <a:r>
              <a:rPr sz="900" b="0">
                <a:solidFill>
                  <a:srgbClr val="6C7B8A"/>
                </a:solidFill>
              </a:rPr>
              <a:t>09 / 13</a:t>
            </a: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030621" y="457200"/>
            <a:ext cx="2474659" cy="832104"/>
          </a:xfrm>
          <a:prstGeom prst="rect">
            <a:avLst/>
          </a:prstGeom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0AC4F4F1-2CBB-4CBE-8C65-6E1BA2B99876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1381125" cy="438150"/>
          </a:xfrm>
          <a:prstGeom prst="roundRect">
            <a:avLst>
              <a:gd name="adj" fmla="val 17391"/>
            </a:avLst>
          </a:prstGeom>
          <a:solidFill>
            <a:srgbClr val="173A5E"/>
          </a:solidFill>
          <a:ln w="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BAB9ADC-20C3-426D-A93D-A0AB257746D3}"/>
              </a:ext>
            </a:extLst>
          </p:cNvPr>
          <p:cNvSpPr>
            <a:spLocks noGrp="1"/>
          </p:cNvSpPr>
          <p:nvPr/>
        </p:nvSpPr>
        <p:spPr>
          <a:xfrm>
            <a:off x="800100" y="16287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7/5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4E82BCBF-51F5-4F19-AEB4-043E48D154C4}"/>
              </a:ext>
            </a:extLst>
          </p:cNvPr>
          <p:cNvSpPr>
            <a:spLocks noGrp="1"/>
          </p:cNvSpPr>
          <p:nvPr/>
        </p:nvSpPr>
        <p:spPr>
          <a:xfrm>
            <a:off x="2286000" y="1504950"/>
            <a:ext cx="89535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2036CC6-A251-495A-92F6-AC3B1D6ABC6A}"/>
              </a:ext>
            </a:extLst>
          </p:cNvPr>
          <p:cNvSpPr>
            <a:spLocks noGrp="1"/>
          </p:cNvSpPr>
          <p:nvPr/>
        </p:nvSpPr>
        <p:spPr>
          <a:xfrm>
            <a:off x="2476500" y="15811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3A5E"/>
                </a:solidFill>
              </a:defRPr>
            </a:pPr>
            <a:r>
              <a:rPr sz="1200" b="1">
                <a:solidFill>
                  <a:srgbClr val="173A5E"/>
                </a:solidFill>
              </a:rPr>
              <a:t>启动会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992E24F-EC74-4E49-B6A6-27651963136A}"/>
              </a:ext>
            </a:extLst>
          </p:cNvPr>
          <p:cNvSpPr>
            <a:spLocks noGrp="1"/>
          </p:cNvSpPr>
          <p:nvPr/>
        </p:nvSpPr>
        <p:spPr>
          <a:xfrm>
            <a:off x="4381500" y="1600200"/>
            <a:ext cx="6572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D7083"/>
                </a:solidFill>
              </a:defRPr>
            </a:pPr>
            <a:r>
              <a:rPr sz="1125" b="0">
                <a:solidFill>
                  <a:srgbClr val="5D7083"/>
                </a:solidFill>
              </a:rPr>
              <a:t>确定方案、分工、AI工具和本周任务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6FA2A3B-6DCD-45B3-BA3B-2A770EAAEB63}"/>
              </a:ext>
            </a:extLst>
          </p:cNvPr>
          <p:cNvSpPr>
            <a:spLocks noGrp="1"/>
          </p:cNvSpPr>
          <p:nvPr/>
        </p:nvSpPr>
        <p:spPr>
          <a:xfrm>
            <a:off x="1228725" y="196215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495F6"/>
                </a:solidFill>
              </a:defRPr>
            </a:pPr>
            <a:r>
              <a:rPr sz="1350" b="1">
                <a:solidFill>
                  <a:srgbClr val="1495F6"/>
                </a:solidFill>
              </a:rPr>
              <a:t>↓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8EDDE034-359A-4BAC-9492-A6F8E9A4C852}"/>
              </a:ext>
            </a:extLst>
          </p:cNvPr>
          <p:cNvSpPr>
            <a:spLocks noGrp="1"/>
          </p:cNvSpPr>
          <p:nvPr/>
        </p:nvSpPr>
        <p:spPr>
          <a:xfrm>
            <a:off x="685800" y="2143125"/>
            <a:ext cx="1381125" cy="438150"/>
          </a:xfrm>
          <a:prstGeom prst="roundRect">
            <a:avLst>
              <a:gd name="adj" fmla="val 17391"/>
            </a:avLst>
          </a:prstGeom>
          <a:solidFill>
            <a:srgbClr val="173A5E"/>
          </a:solidFill>
          <a:ln w="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7D844FB-EEAB-4092-8DE5-BA1D221512B7}"/>
              </a:ext>
            </a:extLst>
          </p:cNvPr>
          <p:cNvSpPr>
            <a:spLocks noGrp="1"/>
          </p:cNvSpPr>
          <p:nvPr/>
        </p:nvSpPr>
        <p:spPr>
          <a:xfrm>
            <a:off x="800100" y="22669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7/6-7/12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EB05FC50-5015-48B6-88C6-C652044E7B81}"/>
              </a:ext>
            </a:extLst>
          </p:cNvPr>
          <p:cNvSpPr>
            <a:spLocks noGrp="1"/>
          </p:cNvSpPr>
          <p:nvPr/>
        </p:nvSpPr>
        <p:spPr>
          <a:xfrm>
            <a:off x="2286000" y="2143125"/>
            <a:ext cx="8953500" cy="438150"/>
          </a:xfrm>
          <a:prstGeom prst="roundRect">
            <a:avLst>
              <a:gd name="adj" fmla="val 17391"/>
            </a:avLst>
          </a:prstGeom>
          <a:solidFill>
            <a:srgbClr val="F5F8FB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8F83B55-A257-4D96-9021-AD8545A4C8B4}"/>
              </a:ext>
            </a:extLst>
          </p:cNvPr>
          <p:cNvSpPr>
            <a:spLocks noGrp="1"/>
          </p:cNvSpPr>
          <p:nvPr/>
        </p:nvSpPr>
        <p:spPr>
          <a:xfrm>
            <a:off x="2476500" y="2219325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3A5E"/>
                </a:solidFill>
              </a:defRPr>
            </a:pPr>
            <a:r>
              <a:rPr sz="1200" b="1">
                <a:solidFill>
                  <a:srgbClr val="173A5E"/>
                </a:solidFill>
              </a:rPr>
              <a:t>短学期适应期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B332A3-715E-4E4E-9C6F-0A38F87C7F39}"/>
              </a:ext>
            </a:extLst>
          </p:cNvPr>
          <p:cNvSpPr>
            <a:spLocks noGrp="1"/>
          </p:cNvSpPr>
          <p:nvPr/>
        </p:nvSpPr>
        <p:spPr>
          <a:xfrm>
            <a:off x="4381500" y="2238375"/>
            <a:ext cx="6572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D7083"/>
                </a:solidFill>
              </a:defRPr>
            </a:pPr>
            <a:r>
              <a:rPr sz="1125" b="0">
                <a:solidFill>
                  <a:srgbClr val="5D7083"/>
                </a:solidFill>
              </a:rPr>
              <a:t>每天有课，重点是读代码、跑小样本、记录问题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CE7563C-3817-47C7-90FA-ACA9250CBBE8}"/>
              </a:ext>
            </a:extLst>
          </p:cNvPr>
          <p:cNvSpPr>
            <a:spLocks noGrp="1"/>
          </p:cNvSpPr>
          <p:nvPr/>
        </p:nvSpPr>
        <p:spPr>
          <a:xfrm>
            <a:off x="1228725" y="2600325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495F6"/>
                </a:solidFill>
              </a:defRPr>
            </a:pPr>
            <a:r>
              <a:rPr sz="1350" b="1">
                <a:solidFill>
                  <a:srgbClr val="1495F6"/>
                </a:solidFill>
              </a:rPr>
              <a:t>↓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AEB31F7D-347B-439C-B0C0-A4789EA9BA83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1381125" cy="438150"/>
          </a:xfrm>
          <a:prstGeom prst="roundRect">
            <a:avLst>
              <a:gd name="adj" fmla="val 17391"/>
            </a:avLst>
          </a:prstGeom>
          <a:solidFill>
            <a:srgbClr val="173A5E"/>
          </a:solidFill>
          <a:ln w="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A5F13B0-2966-46D2-B7D2-2309CEE8504F}"/>
              </a:ext>
            </a:extLst>
          </p:cNvPr>
          <p:cNvSpPr>
            <a:spLocks noGrp="1"/>
          </p:cNvSpPr>
          <p:nvPr/>
        </p:nvSpPr>
        <p:spPr>
          <a:xfrm>
            <a:off x="800100" y="290512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7/13-7/26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2B818535-A9ED-4347-B627-D902AE2B9F82}"/>
              </a:ext>
            </a:extLst>
          </p:cNvPr>
          <p:cNvSpPr>
            <a:spLocks noGrp="1"/>
          </p:cNvSpPr>
          <p:nvPr/>
        </p:nvSpPr>
        <p:spPr>
          <a:xfrm>
            <a:off x="2286000" y="2781300"/>
            <a:ext cx="89535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15C68FA-72F2-4A30-8182-A15A9718BFF3}"/>
              </a:ext>
            </a:extLst>
          </p:cNvPr>
          <p:cNvSpPr>
            <a:spLocks noGrp="1"/>
          </p:cNvSpPr>
          <p:nvPr/>
        </p:nvSpPr>
        <p:spPr>
          <a:xfrm>
            <a:off x="2476500" y="28575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3A5E"/>
                </a:solidFill>
              </a:defRPr>
            </a:pPr>
            <a:r>
              <a:rPr sz="1200" b="1">
                <a:solidFill>
                  <a:srgbClr val="173A5E"/>
                </a:solidFill>
              </a:rPr>
              <a:t>第一轮闭环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5A5B831-65A0-43E5-9B29-9F7D778C3A0F}"/>
              </a:ext>
            </a:extLst>
          </p:cNvPr>
          <p:cNvSpPr>
            <a:spLocks noGrp="1"/>
          </p:cNvSpPr>
          <p:nvPr/>
        </p:nvSpPr>
        <p:spPr>
          <a:xfrm>
            <a:off x="4381500" y="2876550"/>
            <a:ext cx="6572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D7083"/>
                </a:solidFill>
              </a:defRPr>
            </a:pPr>
            <a:r>
              <a:rPr sz="1125" b="0">
                <a:solidFill>
                  <a:srgbClr val="5D7083"/>
                </a:solidFill>
              </a:rPr>
              <a:t>跑通完整pipeline，形成第一版结果表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FB4BBB3-7309-47F8-A0ED-18276DF0CA52}"/>
              </a:ext>
            </a:extLst>
          </p:cNvPr>
          <p:cNvSpPr>
            <a:spLocks noGrp="1"/>
          </p:cNvSpPr>
          <p:nvPr/>
        </p:nvSpPr>
        <p:spPr>
          <a:xfrm>
            <a:off x="1228725" y="323850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495F6"/>
                </a:solidFill>
              </a:defRPr>
            </a:pPr>
            <a:r>
              <a:rPr sz="1350" b="1">
                <a:solidFill>
                  <a:srgbClr val="1495F6"/>
                </a:solidFill>
              </a:rPr>
              <a:t>↓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AE2468DD-5074-4142-BC33-17892600229B}"/>
              </a:ext>
            </a:extLst>
          </p:cNvPr>
          <p:cNvSpPr>
            <a:spLocks noGrp="1"/>
          </p:cNvSpPr>
          <p:nvPr/>
        </p:nvSpPr>
        <p:spPr>
          <a:xfrm>
            <a:off x="685800" y="3419475"/>
            <a:ext cx="1381125" cy="438150"/>
          </a:xfrm>
          <a:prstGeom prst="roundRect">
            <a:avLst>
              <a:gd name="adj" fmla="val 17391"/>
            </a:avLst>
          </a:prstGeom>
          <a:solidFill>
            <a:srgbClr val="173A5E"/>
          </a:solidFill>
          <a:ln w="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EF38423-BA5F-4742-9622-B09E0FD4FE8E}"/>
              </a:ext>
            </a:extLst>
          </p:cNvPr>
          <p:cNvSpPr>
            <a:spLocks noGrp="1"/>
          </p:cNvSpPr>
          <p:nvPr/>
        </p:nvSpPr>
        <p:spPr>
          <a:xfrm>
            <a:off x="800100" y="35433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7/27-8/10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BD5EEE41-D380-48A7-9C99-497331BC48E8}"/>
              </a:ext>
            </a:extLst>
          </p:cNvPr>
          <p:cNvSpPr>
            <a:spLocks noGrp="1"/>
          </p:cNvSpPr>
          <p:nvPr/>
        </p:nvSpPr>
        <p:spPr>
          <a:xfrm>
            <a:off x="2286000" y="3419475"/>
            <a:ext cx="8953500" cy="438150"/>
          </a:xfrm>
          <a:prstGeom prst="roundRect">
            <a:avLst>
              <a:gd name="adj" fmla="val 17391"/>
            </a:avLst>
          </a:prstGeom>
          <a:solidFill>
            <a:srgbClr val="F5F8FB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4B85269-9941-4BF8-B21F-5A7069F12437}"/>
              </a:ext>
            </a:extLst>
          </p:cNvPr>
          <p:cNvSpPr>
            <a:spLocks noGrp="1"/>
          </p:cNvSpPr>
          <p:nvPr/>
        </p:nvSpPr>
        <p:spPr>
          <a:xfrm>
            <a:off x="2476500" y="3495675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3A5E"/>
                </a:solidFill>
              </a:defRPr>
            </a:pPr>
            <a:r>
              <a:rPr sz="1200" b="1">
                <a:solidFill>
                  <a:srgbClr val="173A5E"/>
                </a:solidFill>
              </a:rPr>
              <a:t>专项优化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D325F2B-FCBF-40AE-9572-14EA4A185CDD}"/>
              </a:ext>
            </a:extLst>
          </p:cNvPr>
          <p:cNvSpPr>
            <a:spLocks noGrp="1"/>
          </p:cNvSpPr>
          <p:nvPr/>
        </p:nvSpPr>
        <p:spPr>
          <a:xfrm>
            <a:off x="4381500" y="3514725"/>
            <a:ext cx="6572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D7083"/>
                </a:solidFill>
              </a:defRPr>
            </a:pPr>
            <a:r>
              <a:rPr sz="1125" b="0">
                <a:solidFill>
                  <a:srgbClr val="5D7083"/>
                </a:solidFill>
              </a:rPr>
              <a:t>围绕CER、RR、耗时做对比实验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70EAB48-85A3-4DCE-B26F-CC68850EC8BD}"/>
              </a:ext>
            </a:extLst>
          </p:cNvPr>
          <p:cNvSpPr>
            <a:spLocks noGrp="1"/>
          </p:cNvSpPr>
          <p:nvPr/>
        </p:nvSpPr>
        <p:spPr>
          <a:xfrm>
            <a:off x="1228725" y="3876675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495F6"/>
                </a:solidFill>
              </a:defRPr>
            </a:pPr>
            <a:r>
              <a:rPr sz="1350" b="1">
                <a:solidFill>
                  <a:srgbClr val="1495F6"/>
                </a:solidFill>
              </a:rPr>
              <a:t>↓</a:t>
            </a: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F97BCED4-5DA7-48EB-A543-E3C44BAEE29E}"/>
              </a:ext>
            </a:extLst>
          </p:cNvPr>
          <p:cNvSpPr>
            <a:spLocks noGrp="1"/>
          </p:cNvSpPr>
          <p:nvPr/>
        </p:nvSpPr>
        <p:spPr>
          <a:xfrm>
            <a:off x="685800" y="4057650"/>
            <a:ext cx="1381125" cy="438150"/>
          </a:xfrm>
          <a:prstGeom prst="roundRect">
            <a:avLst>
              <a:gd name="adj" fmla="val 17391"/>
            </a:avLst>
          </a:prstGeom>
          <a:solidFill>
            <a:srgbClr val="173A5E"/>
          </a:solidFill>
          <a:ln w="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EFDC13A-736E-400F-BB1B-E78083F49A1C}"/>
              </a:ext>
            </a:extLst>
          </p:cNvPr>
          <p:cNvSpPr>
            <a:spLocks noGrp="1"/>
          </p:cNvSpPr>
          <p:nvPr/>
        </p:nvSpPr>
        <p:spPr>
          <a:xfrm>
            <a:off x="800100" y="41814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8/11-8/24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873C93BE-E769-4F2E-BAF3-7F7E2603F886}"/>
              </a:ext>
            </a:extLst>
          </p:cNvPr>
          <p:cNvSpPr>
            <a:spLocks noGrp="1"/>
          </p:cNvSpPr>
          <p:nvPr/>
        </p:nvSpPr>
        <p:spPr>
          <a:xfrm>
            <a:off x="2286000" y="4057650"/>
            <a:ext cx="89535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5A431CA-0E1B-47D6-BEC4-2B06772B51F2}"/>
              </a:ext>
            </a:extLst>
          </p:cNvPr>
          <p:cNvSpPr>
            <a:spLocks noGrp="1"/>
          </p:cNvSpPr>
          <p:nvPr/>
        </p:nvSpPr>
        <p:spPr>
          <a:xfrm>
            <a:off x="2476500" y="41338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3A5E"/>
                </a:solidFill>
              </a:defRPr>
            </a:pPr>
            <a:r>
              <a:rPr sz="1200" b="1">
                <a:solidFill>
                  <a:srgbClr val="173A5E"/>
                </a:solidFill>
              </a:rPr>
              <a:t>稳定化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4DDDEB8-AFD8-4A42-A0E8-53CFC670B5D0}"/>
              </a:ext>
            </a:extLst>
          </p:cNvPr>
          <p:cNvSpPr>
            <a:spLocks noGrp="1"/>
          </p:cNvSpPr>
          <p:nvPr/>
        </p:nvSpPr>
        <p:spPr>
          <a:xfrm>
            <a:off x="4381500" y="4152900"/>
            <a:ext cx="6572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D7083"/>
                </a:solidFill>
              </a:defRPr>
            </a:pPr>
            <a:r>
              <a:rPr sz="1125" b="0">
                <a:solidFill>
                  <a:srgbClr val="5D7083"/>
                </a:solidFill>
              </a:rPr>
              <a:t>固定主方案，补文档、补实验、整理代码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03B7D14-055F-436B-8BCA-C8964F70C44D}"/>
              </a:ext>
            </a:extLst>
          </p:cNvPr>
          <p:cNvSpPr>
            <a:spLocks noGrp="1"/>
          </p:cNvSpPr>
          <p:nvPr/>
        </p:nvSpPr>
        <p:spPr>
          <a:xfrm>
            <a:off x="1228725" y="451485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495F6"/>
                </a:solidFill>
              </a:defRPr>
            </a:pPr>
            <a:r>
              <a:rPr sz="1350" b="1">
                <a:solidFill>
                  <a:srgbClr val="1495F6"/>
                </a:solidFill>
              </a:rPr>
              <a:t>↓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6DF28143-8D7B-435E-A586-CC5AC8F18879}"/>
              </a:ext>
            </a:extLst>
          </p:cNvPr>
          <p:cNvSpPr>
            <a:spLocks noGrp="1"/>
          </p:cNvSpPr>
          <p:nvPr/>
        </p:nvSpPr>
        <p:spPr>
          <a:xfrm>
            <a:off x="685800" y="4695825"/>
            <a:ext cx="1381125" cy="438150"/>
          </a:xfrm>
          <a:prstGeom prst="roundRect">
            <a:avLst>
              <a:gd name="adj" fmla="val 17391"/>
            </a:avLst>
          </a:prstGeom>
          <a:solidFill>
            <a:srgbClr val="173A5E"/>
          </a:solidFill>
          <a:ln w="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841854D-C1B2-47EE-9291-2F11E25CA12C}"/>
              </a:ext>
            </a:extLst>
          </p:cNvPr>
          <p:cNvSpPr>
            <a:spLocks noGrp="1"/>
          </p:cNvSpPr>
          <p:nvPr/>
        </p:nvSpPr>
        <p:spPr>
          <a:xfrm>
            <a:off x="800100" y="48196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8/25-9/3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B9B49A6B-2D4F-4F0B-B3D6-E14578549A1E}"/>
              </a:ext>
            </a:extLst>
          </p:cNvPr>
          <p:cNvSpPr>
            <a:spLocks noGrp="1"/>
          </p:cNvSpPr>
          <p:nvPr/>
        </p:nvSpPr>
        <p:spPr>
          <a:xfrm>
            <a:off x="2286000" y="4695825"/>
            <a:ext cx="8953500" cy="438150"/>
          </a:xfrm>
          <a:prstGeom prst="roundRect">
            <a:avLst>
              <a:gd name="adj" fmla="val 17391"/>
            </a:avLst>
          </a:prstGeom>
          <a:solidFill>
            <a:srgbClr val="F5F8FB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E758B48-0B3C-469D-A165-2E9864FB976C}"/>
              </a:ext>
            </a:extLst>
          </p:cNvPr>
          <p:cNvSpPr>
            <a:spLocks noGrp="1"/>
          </p:cNvSpPr>
          <p:nvPr/>
        </p:nvSpPr>
        <p:spPr>
          <a:xfrm>
            <a:off x="2476500" y="4772025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3A5E"/>
                </a:solidFill>
              </a:defRPr>
            </a:pPr>
            <a:r>
              <a:rPr sz="1200" b="1">
                <a:solidFill>
                  <a:srgbClr val="173A5E"/>
                </a:solidFill>
              </a:rPr>
              <a:t>提交准备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EF64922-1386-45F6-ABFC-440B2487AEF6}"/>
              </a:ext>
            </a:extLst>
          </p:cNvPr>
          <p:cNvSpPr>
            <a:spLocks noGrp="1"/>
          </p:cNvSpPr>
          <p:nvPr/>
        </p:nvSpPr>
        <p:spPr>
          <a:xfrm>
            <a:off x="4381500" y="4791075"/>
            <a:ext cx="6572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D7083"/>
                </a:solidFill>
              </a:defRPr>
            </a:pPr>
            <a:r>
              <a:rPr sz="1125" b="0">
                <a:solidFill>
                  <a:srgbClr val="5D7083"/>
                </a:solidFill>
              </a:rPr>
              <a:t>检查推理脚本、JSON、说明文档和压缩包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0DDC713-FF64-4327-82D6-89524FF09F67}"/>
              </a:ext>
            </a:extLst>
          </p:cNvPr>
          <p:cNvSpPr>
            <a:spLocks noGrp="1"/>
          </p:cNvSpPr>
          <p:nvPr/>
        </p:nvSpPr>
        <p:spPr>
          <a:xfrm>
            <a:off x="1228725" y="5153025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495F6"/>
                </a:solidFill>
              </a:defRPr>
            </a:pPr>
            <a:r>
              <a:rPr sz="1350" b="1">
                <a:solidFill>
                  <a:srgbClr val="1495F6"/>
                </a:solidFill>
              </a:rPr>
              <a:t>↓</a:t>
            </a:r>
          </a:p>
        </p:txBody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D59A242C-D56C-4718-B1C9-FDB1DA385743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1381125" cy="438150"/>
          </a:xfrm>
          <a:prstGeom prst="roundRect">
            <a:avLst>
              <a:gd name="adj" fmla="val 17391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D2140B6-3032-4D04-A82D-2718F16140EF}"/>
              </a:ext>
            </a:extLst>
          </p:cNvPr>
          <p:cNvSpPr>
            <a:spLocks noGrp="1"/>
          </p:cNvSpPr>
          <p:nvPr/>
        </p:nvSpPr>
        <p:spPr>
          <a:xfrm>
            <a:off x="800100" y="545782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9/5前</a:t>
            </a:r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97518EC6-8324-43CD-95CB-4AD73D8A1307}"/>
              </a:ext>
            </a:extLst>
          </p:cNvPr>
          <p:cNvSpPr>
            <a:spLocks noGrp="1"/>
          </p:cNvSpPr>
          <p:nvPr/>
        </p:nvSpPr>
        <p:spPr>
          <a:xfrm>
            <a:off x="2286000" y="5334000"/>
            <a:ext cx="89535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C781C1B-5CB2-43D9-B457-650C477308BE}"/>
              </a:ext>
            </a:extLst>
          </p:cNvPr>
          <p:cNvSpPr>
            <a:spLocks noGrp="1"/>
          </p:cNvSpPr>
          <p:nvPr/>
        </p:nvSpPr>
        <p:spPr>
          <a:xfrm>
            <a:off x="2476500" y="54102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3A5E"/>
                </a:solidFill>
              </a:defRPr>
            </a:pPr>
            <a:r>
              <a:rPr sz="1200" b="1">
                <a:solidFill>
                  <a:srgbClr val="173A5E"/>
                </a:solidFill>
              </a:rPr>
              <a:t>作品提交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E6C89FD-B0CC-4B3F-91B0-F39471B16351}"/>
              </a:ext>
            </a:extLst>
          </p:cNvPr>
          <p:cNvSpPr>
            <a:spLocks noGrp="1"/>
          </p:cNvSpPr>
          <p:nvPr/>
        </p:nvSpPr>
        <p:spPr>
          <a:xfrm>
            <a:off x="4381500" y="5429250"/>
            <a:ext cx="6572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D7083"/>
                </a:solidFill>
              </a:defRPr>
            </a:pPr>
            <a:r>
              <a:rPr sz="1125" b="0">
                <a:solidFill>
                  <a:srgbClr val="5D7083"/>
                </a:solidFill>
              </a:rPr>
              <a:t>按发榜单位要求完成邮件提交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EF0EB63-EC15-4062-8255-22F73083C1E5}"/>
              </a:ext>
            </a:extLst>
          </p:cNvPr>
          <p:cNvSpPr>
            <a:spLocks noGrp="1"/>
          </p:cNvSpPr>
          <p:nvPr/>
        </p:nvSpPr>
        <p:spPr>
          <a:xfrm>
            <a:off x="685800" y="6048375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495F6"/>
                </a:solidFill>
              </a:defRPr>
            </a:pPr>
            <a:r>
              <a:rPr sz="1350" b="1">
                <a:solidFill>
                  <a:srgbClr val="1495F6"/>
                </a:solidFill>
              </a:rPr>
              <a:t>短学期这一周不要追求重开发，目标是让每个人都进入自己的模块。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1E9F041-33AE-4A99-ABEC-CE43FD5204BF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647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B8DA0"/>
                </a:solidFill>
              </a:defRPr>
            </a:pPr>
            <a:r>
              <a:rPr sz="825" b="0">
                <a:solidFill>
                  <a:srgbClr val="7B8DA0"/>
                </a:solidFill>
              </a:rPr>
              <a:t>国家级大学生创新创业训练计划 · 创新训练项目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913D61BC-01B3-492E-BD93-6B799A5D799A}"/>
              </a:ext>
            </a:extLst>
          </p:cNvPr>
          <p:cNvSpPr>
            <a:spLocks noGrp="1"/>
          </p:cNvSpPr>
          <p:nvPr/>
        </p:nvSpPr>
        <p:spPr>
          <a:xfrm>
            <a:off x="8896350" y="6515100"/>
            <a:ext cx="274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DA0"/>
                </a:solidFill>
              </a:defRPr>
            </a:pPr>
            <a:r>
              <a:rPr sz="825" b="0">
                <a:solidFill>
                  <a:srgbClr val="7B8DA0"/>
                </a:solidFill>
              </a:rPr>
              <a:t>杭州电子科技大学</a:t>
            </a:r>
          </a:p>
        </p:txBody>
      </p:sp>
    </p:spTree>
    <p:extLst>
      <p:ext uri="{BB962C8B-B14F-4D97-AF65-F5344CB8AC3E}">
        <p14:creationId xmlns:p14="http://schemas.microsoft.com/office/powerpoint/2010/main" val="675547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A365DB3D-554F-4A2D-AD24-CB11067BB0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173A5E"/>
          </a:solidFill>
          <a:ln w="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D98CD9A8-118F-4359-80E3-28E090F8BFD2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38100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7B85599-0CCA-40E6-BCEF-E9850185B91E}"/>
              </a:ext>
            </a:extLst>
          </p:cNvPr>
          <p:cNvSpPr>
            <a:spLocks noGrp="1"/>
          </p:cNvSpPr>
          <p:nvPr/>
        </p:nvSpPr>
        <p:spPr>
          <a:xfrm>
            <a:off x="781050" y="409575"/>
            <a:ext cx="838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495F6"/>
                </a:solidFill>
              </a:defRPr>
            </a:pPr>
            <a:r>
              <a:rPr sz="1125" b="1">
                <a:solidFill>
                  <a:srgbClr val="1495F6"/>
                </a:solidFill>
              </a:rPr>
              <a:t>十、本周任务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FBA3359-83DF-4FE9-83CE-A30E76B779CE}"/>
              </a:ext>
            </a:extLst>
          </p:cNvPr>
          <p:cNvSpPr>
            <a:spLocks noGrp="1"/>
          </p:cNvSpPr>
          <p:nvPr/>
        </p:nvSpPr>
        <p:spPr>
          <a:xfrm>
            <a:off x="781050" y="657225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3A5E"/>
                </a:solidFill>
              </a:defRPr>
            </a:pPr>
            <a:r>
              <a:rPr sz="1875" b="1">
                <a:solidFill>
                  <a:srgbClr val="173A5E"/>
                </a:solidFill>
              </a:rPr>
              <a:t>每个人只需要先完成一个可验证的小闭环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586093D-B752-4B65-BF61-6482D8F14885}"/>
              </a:ext>
            </a:extLst>
          </p:cNvPr>
          <p:cNvSpPr>
            <a:spLocks noGrp="1"/>
          </p:cNvSpPr>
          <p:nvPr/>
        </p:nvSpPr>
        <p:spPr>
          <a:xfrm>
            <a:off x="552450" y="1228725"/>
            <a:ext cx="11087100" cy="19050"/>
          </a:xfrm>
          <a:prstGeom prst="rect">
            <a:avLst/>
          </a:prstGeom>
          <a:solidFill>
            <a:srgbClr val="D9E3EE"/>
          </a:solidFill>
          <a:ln w="0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D8E4020-076A-4BA0-9CD4-231257F72DE9}"/>
              </a:ext>
            </a:extLst>
          </p:cNvPr>
          <p:cNvSpPr>
            <a:spLocks noGrp="1"/>
          </p:cNvSpPr>
          <p:nvPr/>
        </p:nvSpPr>
        <p:spPr>
          <a:xfrm>
            <a:off x="10058400" y="9334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C7B8A"/>
                </a:solidFill>
              </a:defRPr>
            </a:pPr>
            <a:r>
              <a:rPr sz="900" b="0">
                <a:solidFill>
                  <a:srgbClr val="6C7B8A"/>
                </a:solidFill>
              </a:rPr>
              <a:t>10 / 13</a:t>
            </a:r>
          </a:p>
        </p:txBody>
      </p:sp>
      <p:pic>
        <p:nvPicPr>
          <p:cNvPr id="48" name="图片 4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030621" y="457200"/>
            <a:ext cx="2474659" cy="832104"/>
          </a:xfrm>
          <a:prstGeom prst="rect">
            <a:avLst/>
          </a:prstGeom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DA8DD955-8BB2-4B95-8924-776FC89DB965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4953000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BB23F991-23C3-4251-9422-D1A9BC01D74E}"/>
              </a:ext>
            </a:extLst>
          </p:cNvPr>
          <p:cNvSpPr>
            <a:spLocks noGrp="1"/>
          </p:cNvSpPr>
          <p:nvPr/>
        </p:nvSpPr>
        <p:spPr>
          <a:xfrm>
            <a:off x="857250" y="17526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C51760E-9BC5-48CA-98BA-AE027A43B755}"/>
              </a:ext>
            </a:extLst>
          </p:cNvPr>
          <p:cNvSpPr>
            <a:spLocks noGrp="1"/>
          </p:cNvSpPr>
          <p:nvPr/>
        </p:nvSpPr>
        <p:spPr>
          <a:xfrm>
            <a:off x="857250" y="1809750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B80A6B8-829B-47C6-AB68-82208700399D}"/>
              </a:ext>
            </a:extLst>
          </p:cNvPr>
          <p:cNvSpPr>
            <a:spLocks noGrp="1"/>
          </p:cNvSpPr>
          <p:nvPr/>
        </p:nvSpPr>
        <p:spPr>
          <a:xfrm>
            <a:off x="1352550" y="17716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3A5E"/>
                </a:solidFill>
              </a:defRPr>
            </a:pPr>
            <a:r>
              <a:rPr sz="1350" b="1">
                <a:solidFill>
                  <a:srgbClr val="173A5E"/>
                </a:solidFill>
              </a:rPr>
              <a:t>2号 声纹拒识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222E0B5-2D24-4736-9850-BFC7179520DE}"/>
              </a:ext>
            </a:extLst>
          </p:cNvPr>
          <p:cNvSpPr>
            <a:spLocks noGrp="1"/>
          </p:cNvSpPr>
          <p:nvPr/>
        </p:nvSpPr>
        <p:spPr>
          <a:xfrm>
            <a:off x="1352550" y="21526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7083"/>
                </a:solidFill>
              </a:defRPr>
            </a:pPr>
            <a:r>
              <a:rPr sz="1050" b="0">
                <a:solidFill>
                  <a:srgbClr val="5D7083"/>
                </a:solidFill>
              </a:rPr>
              <a:t>跑通正负样本相似度对比，记录不同阈值现象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3B40C76C-A688-4A12-A49A-88227E3D08DB}"/>
              </a:ext>
            </a:extLst>
          </p:cNvPr>
          <p:cNvSpPr>
            <a:spLocks noGrp="1"/>
          </p:cNvSpPr>
          <p:nvPr/>
        </p:nvSpPr>
        <p:spPr>
          <a:xfrm>
            <a:off x="6324600" y="1581150"/>
            <a:ext cx="4953000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1D5E1B9A-0A05-46F2-8C28-06204DC97040}"/>
              </a:ext>
            </a:extLst>
          </p:cNvPr>
          <p:cNvSpPr>
            <a:spLocks noGrp="1"/>
          </p:cNvSpPr>
          <p:nvPr/>
        </p:nvSpPr>
        <p:spPr>
          <a:xfrm>
            <a:off x="6496050" y="17526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3A7C48B-0C38-4AE0-955D-F1C5DCD4EB75}"/>
              </a:ext>
            </a:extLst>
          </p:cNvPr>
          <p:cNvSpPr>
            <a:spLocks noGrp="1"/>
          </p:cNvSpPr>
          <p:nvPr/>
        </p:nvSpPr>
        <p:spPr>
          <a:xfrm>
            <a:off x="6496050" y="1809750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CBDF978-5177-43D8-AEDD-35DD6C931273}"/>
              </a:ext>
            </a:extLst>
          </p:cNvPr>
          <p:cNvSpPr>
            <a:spLocks noGrp="1"/>
          </p:cNvSpPr>
          <p:nvPr/>
        </p:nvSpPr>
        <p:spPr>
          <a:xfrm>
            <a:off x="6991350" y="17716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3A5E"/>
                </a:solidFill>
              </a:defRPr>
            </a:pPr>
            <a:r>
              <a:rPr sz="1350" b="1">
                <a:solidFill>
                  <a:srgbClr val="173A5E"/>
                </a:solidFill>
              </a:rPr>
              <a:t>3号 ASR识别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4AB6E5B-EBE1-4B9A-B319-512165D359B1}"/>
              </a:ext>
            </a:extLst>
          </p:cNvPr>
          <p:cNvSpPr>
            <a:spLocks noGrp="1"/>
          </p:cNvSpPr>
          <p:nvPr/>
        </p:nvSpPr>
        <p:spPr>
          <a:xfrm>
            <a:off x="6991350" y="21526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7083"/>
                </a:solidFill>
              </a:defRPr>
            </a:pPr>
            <a:r>
              <a:rPr sz="1050" b="0">
                <a:solidFill>
                  <a:srgbClr val="5D7083"/>
                </a:solidFill>
              </a:rPr>
              <a:t>跑通5条正样本识别，提交原文、输出和错误分析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CBDFF7E6-F507-43E0-BB3F-C456D94F4329}"/>
              </a:ext>
            </a:extLst>
          </p:cNvPr>
          <p:cNvSpPr>
            <a:spLocks noGrp="1"/>
          </p:cNvSpPr>
          <p:nvPr/>
        </p:nvSpPr>
        <p:spPr>
          <a:xfrm>
            <a:off x="685800" y="2895600"/>
            <a:ext cx="4953000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67B18749-6258-47D8-BC63-77178949DF97}"/>
              </a:ext>
            </a:extLst>
          </p:cNvPr>
          <p:cNvSpPr>
            <a:spLocks noGrp="1"/>
          </p:cNvSpPr>
          <p:nvPr/>
        </p:nvSpPr>
        <p:spPr>
          <a:xfrm>
            <a:off x="857250" y="30670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45DB8F-3E83-4E68-8E16-BA043636158F}"/>
              </a:ext>
            </a:extLst>
          </p:cNvPr>
          <p:cNvSpPr>
            <a:spLocks noGrp="1"/>
          </p:cNvSpPr>
          <p:nvPr/>
        </p:nvSpPr>
        <p:spPr>
          <a:xfrm>
            <a:off x="857250" y="3124200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7C22FFD-0876-4210-963D-0D60CF4E9F81}"/>
              </a:ext>
            </a:extLst>
          </p:cNvPr>
          <p:cNvSpPr>
            <a:spLocks noGrp="1"/>
          </p:cNvSpPr>
          <p:nvPr/>
        </p:nvSpPr>
        <p:spPr>
          <a:xfrm>
            <a:off x="1352550" y="30861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3A5E"/>
                </a:solidFill>
              </a:defRPr>
            </a:pPr>
            <a:r>
              <a:rPr sz="1350" b="1">
                <a:solidFill>
                  <a:srgbClr val="173A5E"/>
                </a:solidFill>
              </a:rPr>
              <a:t>4号 数据评测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7F2468A-5BFD-4927-8E99-656423C55C96}"/>
              </a:ext>
            </a:extLst>
          </p:cNvPr>
          <p:cNvSpPr>
            <a:spLocks noGrp="1"/>
          </p:cNvSpPr>
          <p:nvPr/>
        </p:nvSpPr>
        <p:spPr>
          <a:xfrm>
            <a:off x="1352550" y="346710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7083"/>
                </a:solidFill>
              </a:defRPr>
            </a:pPr>
            <a:r>
              <a:rPr sz="1050" b="0">
                <a:solidFill>
                  <a:srgbClr val="5D7083"/>
                </a:solidFill>
              </a:rPr>
              <a:t>整理pos/neg字段和样本数量，建立实验记录表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37D52833-FC0B-4916-A855-6DC10E52B5DD}"/>
              </a:ext>
            </a:extLst>
          </p:cNvPr>
          <p:cNvSpPr>
            <a:spLocks noGrp="1"/>
          </p:cNvSpPr>
          <p:nvPr/>
        </p:nvSpPr>
        <p:spPr>
          <a:xfrm>
            <a:off x="6324600" y="2895600"/>
            <a:ext cx="4953000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53A7C219-50FE-4B6F-8D82-28B880CB0366}"/>
              </a:ext>
            </a:extLst>
          </p:cNvPr>
          <p:cNvSpPr>
            <a:spLocks noGrp="1"/>
          </p:cNvSpPr>
          <p:nvPr/>
        </p:nvSpPr>
        <p:spPr>
          <a:xfrm>
            <a:off x="6496050" y="30670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2847FC9-CB32-4C7F-BC06-7E88DE32DD78}"/>
              </a:ext>
            </a:extLst>
          </p:cNvPr>
          <p:cNvSpPr>
            <a:spLocks noGrp="1"/>
          </p:cNvSpPr>
          <p:nvPr/>
        </p:nvSpPr>
        <p:spPr>
          <a:xfrm>
            <a:off x="6496050" y="3124200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495F76B-B772-4888-8763-6718DBD67C84}"/>
              </a:ext>
            </a:extLst>
          </p:cNvPr>
          <p:cNvSpPr>
            <a:spLocks noGrp="1"/>
          </p:cNvSpPr>
          <p:nvPr/>
        </p:nvSpPr>
        <p:spPr>
          <a:xfrm>
            <a:off x="6991350" y="30861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3A5E"/>
                </a:solidFill>
              </a:defRPr>
            </a:pPr>
            <a:r>
              <a:rPr sz="1350" b="1">
                <a:solidFill>
                  <a:srgbClr val="173A5E"/>
                </a:solidFill>
              </a:rPr>
              <a:t>5号 工程提交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4C27B0D-886F-44B0-8B4E-EBD7D88ABEBD}"/>
              </a:ext>
            </a:extLst>
          </p:cNvPr>
          <p:cNvSpPr>
            <a:spLocks noGrp="1"/>
          </p:cNvSpPr>
          <p:nvPr/>
        </p:nvSpPr>
        <p:spPr>
          <a:xfrm>
            <a:off x="6991350" y="346710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7083"/>
                </a:solidFill>
              </a:defRPr>
            </a:pPr>
            <a:r>
              <a:rPr sz="1050" b="0">
                <a:solidFill>
                  <a:srgbClr val="5D7083"/>
                </a:solidFill>
              </a:rPr>
              <a:t>写新同学运行项目步骤，检查JSON输出格式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2ED0DB7A-5DE3-47F5-80D6-B091D200A824}"/>
              </a:ext>
            </a:extLst>
          </p:cNvPr>
          <p:cNvSpPr>
            <a:spLocks noGrp="1"/>
          </p:cNvSpPr>
          <p:nvPr/>
        </p:nvSpPr>
        <p:spPr>
          <a:xfrm>
            <a:off x="685800" y="4210050"/>
            <a:ext cx="4953000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A68676AF-BA63-4E74-B0E2-080E6010D3ED}"/>
              </a:ext>
            </a:extLst>
          </p:cNvPr>
          <p:cNvSpPr>
            <a:spLocks noGrp="1"/>
          </p:cNvSpPr>
          <p:nvPr/>
        </p:nvSpPr>
        <p:spPr>
          <a:xfrm>
            <a:off x="857250" y="43815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4A2ABB4-792B-4826-A590-DCE19EB860E4}"/>
              </a:ext>
            </a:extLst>
          </p:cNvPr>
          <p:cNvSpPr>
            <a:spLocks noGrp="1"/>
          </p:cNvSpPr>
          <p:nvPr/>
        </p:nvSpPr>
        <p:spPr>
          <a:xfrm>
            <a:off x="857250" y="4438650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53CF712-21DD-4F1C-A85F-B9A3F707DE5A}"/>
              </a:ext>
            </a:extLst>
          </p:cNvPr>
          <p:cNvSpPr>
            <a:spLocks noGrp="1"/>
          </p:cNvSpPr>
          <p:nvPr/>
        </p:nvSpPr>
        <p:spPr>
          <a:xfrm>
            <a:off x="1352550" y="44005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3A5E"/>
                </a:solidFill>
              </a:defRPr>
            </a:pPr>
            <a:r>
              <a:rPr sz="1350" b="1">
                <a:solidFill>
                  <a:srgbClr val="173A5E"/>
                </a:solidFill>
              </a:rPr>
              <a:t>6号 展示答辩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7D208AA-3D28-492B-B4EC-DEAE8B4E921D}"/>
              </a:ext>
            </a:extLst>
          </p:cNvPr>
          <p:cNvSpPr>
            <a:spLocks noGrp="1"/>
          </p:cNvSpPr>
          <p:nvPr/>
        </p:nvSpPr>
        <p:spPr>
          <a:xfrm>
            <a:off x="1352550" y="47815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7083"/>
                </a:solidFill>
              </a:defRPr>
            </a:pPr>
            <a:r>
              <a:rPr sz="1050" b="0">
                <a:solidFill>
                  <a:srgbClr val="5D7083"/>
                </a:solidFill>
              </a:rPr>
              <a:t>画一张系统流程图和一张分工图初稿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BBA83D22-01EB-4761-B1D1-AE7934959030}"/>
              </a:ext>
            </a:extLst>
          </p:cNvPr>
          <p:cNvSpPr>
            <a:spLocks noGrp="1"/>
          </p:cNvSpPr>
          <p:nvPr/>
        </p:nvSpPr>
        <p:spPr>
          <a:xfrm>
            <a:off x="6324600" y="4210050"/>
            <a:ext cx="4953000" cy="9715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921FDB7F-807B-47AE-8591-F58014458C37}"/>
              </a:ext>
            </a:extLst>
          </p:cNvPr>
          <p:cNvSpPr>
            <a:spLocks noGrp="1"/>
          </p:cNvSpPr>
          <p:nvPr/>
        </p:nvSpPr>
        <p:spPr>
          <a:xfrm>
            <a:off x="6496050" y="43815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C6D1331-6EC9-4B5C-8938-8B1B21D48CF4}"/>
              </a:ext>
            </a:extLst>
          </p:cNvPr>
          <p:cNvSpPr>
            <a:spLocks noGrp="1"/>
          </p:cNvSpPr>
          <p:nvPr/>
        </p:nvSpPr>
        <p:spPr>
          <a:xfrm>
            <a:off x="6496050" y="4438650"/>
            <a:ext cx="342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8D3135F-B866-46BB-9542-71BD2704A827}"/>
              </a:ext>
            </a:extLst>
          </p:cNvPr>
          <p:cNvSpPr>
            <a:spLocks noGrp="1"/>
          </p:cNvSpPr>
          <p:nvPr/>
        </p:nvSpPr>
        <p:spPr>
          <a:xfrm>
            <a:off x="6991350" y="44005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3A5E"/>
                </a:solidFill>
              </a:defRPr>
            </a:pPr>
            <a:r>
              <a:rPr sz="1350" b="1">
                <a:solidFill>
                  <a:srgbClr val="173A5E"/>
                </a:solidFill>
              </a:rPr>
              <a:t>1号 负责人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9BCFDAE-E955-40CF-8ED8-01820608CC19}"/>
              </a:ext>
            </a:extLst>
          </p:cNvPr>
          <p:cNvSpPr>
            <a:spLocks noGrp="1"/>
          </p:cNvSpPr>
          <p:nvPr/>
        </p:nvSpPr>
        <p:spPr>
          <a:xfrm>
            <a:off x="6991350" y="47815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D7083"/>
                </a:solidFill>
              </a:defRPr>
            </a:pPr>
            <a:r>
              <a:rPr sz="1050" b="0">
                <a:solidFill>
                  <a:srgbClr val="5D7083"/>
                </a:solidFill>
              </a:rPr>
              <a:t>汇总结果，形成第一版比赛方案文档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96D0FE43-7086-45B9-92B3-819EB3C9A421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591800" cy="457200"/>
          </a:xfrm>
          <a:prstGeom prst="roundRect">
            <a:avLst>
              <a:gd name="adj" fmla="val 16667"/>
            </a:avLst>
          </a:prstGeom>
          <a:solidFill>
            <a:srgbClr val="EAF5FF"/>
          </a:solidFill>
          <a:ln w="9525">
            <a:solidFill>
              <a:srgbClr val="B9DB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AB3051E-8F83-4488-A41C-15BB4C8DE1C5}"/>
              </a:ext>
            </a:extLst>
          </p:cNvPr>
          <p:cNvSpPr>
            <a:spLocks noGrp="1"/>
          </p:cNvSpPr>
          <p:nvPr/>
        </p:nvSpPr>
        <p:spPr>
          <a:xfrm>
            <a:off x="914400" y="5753100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73A5E"/>
                </a:solidFill>
              </a:defRPr>
            </a:pPr>
            <a:r>
              <a:rPr sz="1425" b="1">
                <a:solidFill>
                  <a:srgbClr val="173A5E"/>
                </a:solidFill>
              </a:rPr>
              <a:t>验收方式：每个人用三句话汇报——做了什么、结果是什么、卡在哪里。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625A6FA-92A0-4269-A20F-0F41A53879AF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647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B8DA0"/>
                </a:solidFill>
              </a:defRPr>
            </a:pPr>
            <a:r>
              <a:rPr sz="825" b="0">
                <a:solidFill>
                  <a:srgbClr val="7B8DA0"/>
                </a:solidFill>
              </a:rPr>
              <a:t>国家级大学生创新创业训练计划 · 创新训练项目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2ECA5D3-B20C-4279-A13C-3B3944D98E02}"/>
              </a:ext>
            </a:extLst>
          </p:cNvPr>
          <p:cNvSpPr>
            <a:spLocks noGrp="1"/>
          </p:cNvSpPr>
          <p:nvPr/>
        </p:nvSpPr>
        <p:spPr>
          <a:xfrm>
            <a:off x="8896350" y="6515100"/>
            <a:ext cx="274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DA0"/>
                </a:solidFill>
              </a:defRPr>
            </a:pPr>
            <a:r>
              <a:rPr sz="825" b="0">
                <a:solidFill>
                  <a:srgbClr val="7B8DA0"/>
                </a:solidFill>
              </a:rPr>
              <a:t>杭州电子科技大学</a:t>
            </a:r>
          </a:p>
        </p:txBody>
      </p:sp>
    </p:spTree>
    <p:extLst>
      <p:ext uri="{BB962C8B-B14F-4D97-AF65-F5344CB8AC3E}">
        <p14:creationId xmlns:p14="http://schemas.microsoft.com/office/powerpoint/2010/main" val="1674715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AD3D03C-C3A7-427A-9F2C-6D4C121BA1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4775"/>
          </a:xfrm>
          <a:prstGeom prst="rect">
            <a:avLst/>
          </a:prstGeom>
          <a:solidFill>
            <a:srgbClr val="173A5E"/>
          </a:solidFill>
          <a:ln w="0">
            <a:solidFill>
              <a:srgbClr val="173A5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8A9BC912-9359-4A76-B46F-AF6D116398FB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38100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8FEFB2E-2DE2-4146-A3DC-A180093D8599}"/>
              </a:ext>
            </a:extLst>
          </p:cNvPr>
          <p:cNvSpPr>
            <a:spLocks noGrp="1"/>
          </p:cNvSpPr>
          <p:nvPr/>
        </p:nvSpPr>
        <p:spPr>
          <a:xfrm>
            <a:off x="781050" y="409575"/>
            <a:ext cx="838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1495F6"/>
                </a:solidFill>
              </a:defRPr>
            </a:pPr>
            <a:r>
              <a:rPr sz="1125" b="1">
                <a:solidFill>
                  <a:srgbClr val="1495F6"/>
                </a:solidFill>
              </a:rPr>
              <a:t>十一、AI协作规则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D6A5C61-0839-463F-96B4-E52398D78519}"/>
              </a:ext>
            </a:extLst>
          </p:cNvPr>
          <p:cNvSpPr>
            <a:spLocks noGrp="1"/>
          </p:cNvSpPr>
          <p:nvPr/>
        </p:nvSpPr>
        <p:spPr>
          <a:xfrm>
            <a:off x="781050" y="657225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3A5E"/>
                </a:solidFill>
              </a:defRPr>
            </a:pPr>
            <a:r>
              <a:rPr sz="1875" b="1">
                <a:solidFill>
                  <a:srgbClr val="173A5E"/>
                </a:solidFill>
              </a:rPr>
              <a:t>AI可以加速，但实验结论必须由我们自己验证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6C023F8-590E-469D-BAC3-4DF1C5F1BE88}"/>
              </a:ext>
            </a:extLst>
          </p:cNvPr>
          <p:cNvSpPr>
            <a:spLocks noGrp="1"/>
          </p:cNvSpPr>
          <p:nvPr/>
        </p:nvSpPr>
        <p:spPr>
          <a:xfrm>
            <a:off x="552450" y="1228725"/>
            <a:ext cx="11087100" cy="19050"/>
          </a:xfrm>
          <a:prstGeom prst="rect">
            <a:avLst/>
          </a:prstGeom>
          <a:solidFill>
            <a:srgbClr val="D9E3EE"/>
          </a:solidFill>
          <a:ln w="0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F215A25-A412-4C06-8B9B-785850BA3DE3}"/>
              </a:ext>
            </a:extLst>
          </p:cNvPr>
          <p:cNvSpPr>
            <a:spLocks noGrp="1"/>
          </p:cNvSpPr>
          <p:nvPr/>
        </p:nvSpPr>
        <p:spPr>
          <a:xfrm>
            <a:off x="10058400" y="9334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6C7B8A"/>
                </a:solidFill>
              </a:defRPr>
            </a:pPr>
            <a:r>
              <a:rPr sz="900" b="0">
                <a:solidFill>
                  <a:srgbClr val="6C7B8A"/>
                </a:solidFill>
              </a:rPr>
              <a:t>11 / 13</a:t>
            </a: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030621" y="457200"/>
            <a:ext cx="2474659" cy="832104"/>
          </a:xfrm>
          <a:prstGeom prst="rect">
            <a:avLst/>
          </a:prstGeom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B6F0E9A5-8921-4BC2-9C96-2EFF7D631F62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4953000" cy="371475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B969B09-B3F1-4358-AD38-530B2D565BEB}"/>
              </a:ext>
            </a:extLst>
          </p:cNvPr>
          <p:cNvSpPr>
            <a:spLocks noGrp="1"/>
          </p:cNvSpPr>
          <p:nvPr/>
        </p:nvSpPr>
        <p:spPr>
          <a:xfrm>
            <a:off x="914400" y="1714500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3A5E"/>
                </a:solidFill>
              </a:defRPr>
            </a:pPr>
            <a:r>
              <a:rPr sz="1500" b="1">
                <a:solidFill>
                  <a:srgbClr val="173A5E"/>
                </a:solidFill>
              </a:rPr>
              <a:t>推荐使用场景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483C15D9-9332-4D43-BB6F-9EE59FD1B9EA}"/>
              </a:ext>
            </a:extLst>
          </p:cNvPr>
          <p:cNvSpPr>
            <a:spLocks noGrp="1"/>
          </p:cNvSpPr>
          <p:nvPr/>
        </p:nvSpPr>
        <p:spPr>
          <a:xfrm>
            <a:off x="914400" y="2238375"/>
            <a:ext cx="4286250" cy="419100"/>
          </a:xfrm>
          <a:prstGeom prst="roundRect">
            <a:avLst>
              <a:gd name="adj" fmla="val 18182"/>
            </a:avLst>
          </a:prstGeom>
          <a:solidFill>
            <a:srgbClr val="F3F7FB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92F88B5D-7747-40A7-9A45-4DA365E861E1}"/>
              </a:ext>
            </a:extLst>
          </p:cNvPr>
          <p:cNvSpPr>
            <a:spLocks noGrp="1"/>
          </p:cNvSpPr>
          <p:nvPr/>
        </p:nvSpPr>
        <p:spPr>
          <a:xfrm>
            <a:off x="1085850" y="24003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95268CA-377B-4ED0-9008-607C4723599D}"/>
              </a:ext>
            </a:extLst>
          </p:cNvPr>
          <p:cNvSpPr>
            <a:spLocks noGrp="1"/>
          </p:cNvSpPr>
          <p:nvPr/>
        </p:nvSpPr>
        <p:spPr>
          <a:xfrm>
            <a:off x="1276350" y="2333625"/>
            <a:ext cx="377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9324A"/>
                </a:solidFill>
              </a:defRPr>
            </a:pPr>
            <a:r>
              <a:rPr sz="1200" b="0">
                <a:solidFill>
                  <a:srgbClr val="19324A"/>
                </a:solidFill>
              </a:rPr>
              <a:t>读代码：解释脚本入口、函数作用和数据流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42F493B0-E4E3-4523-9AA7-7A35B9F8FB73}"/>
              </a:ext>
            </a:extLst>
          </p:cNvPr>
          <p:cNvSpPr>
            <a:spLocks noGrp="1"/>
          </p:cNvSpPr>
          <p:nvPr/>
        </p:nvSpPr>
        <p:spPr>
          <a:xfrm>
            <a:off x="914400" y="2847975"/>
            <a:ext cx="4286250" cy="419100"/>
          </a:xfrm>
          <a:prstGeom prst="roundRect">
            <a:avLst>
              <a:gd name="adj" fmla="val 18182"/>
            </a:avLst>
          </a:prstGeom>
          <a:solidFill>
            <a:srgbClr val="F3F7FB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8E75E993-58D7-4AC3-930D-A5A612B5B313}"/>
              </a:ext>
            </a:extLst>
          </p:cNvPr>
          <p:cNvSpPr>
            <a:spLocks noGrp="1"/>
          </p:cNvSpPr>
          <p:nvPr/>
        </p:nvSpPr>
        <p:spPr>
          <a:xfrm>
            <a:off x="1085850" y="30099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FFC2D8D-77C2-4773-88A0-1AFC650D47E4}"/>
              </a:ext>
            </a:extLst>
          </p:cNvPr>
          <p:cNvSpPr>
            <a:spLocks noGrp="1"/>
          </p:cNvSpPr>
          <p:nvPr/>
        </p:nvSpPr>
        <p:spPr>
          <a:xfrm>
            <a:off x="1276350" y="2943225"/>
            <a:ext cx="377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9324A"/>
                </a:solidFill>
              </a:defRPr>
            </a:pPr>
            <a:r>
              <a:rPr sz="1200" b="0">
                <a:solidFill>
                  <a:srgbClr val="19324A"/>
                </a:solidFill>
              </a:rPr>
              <a:t>查资料：理解 FunASR、CAM++、CER/RR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3BA76AD2-1696-4D7E-8D49-4133617A592E}"/>
              </a:ext>
            </a:extLst>
          </p:cNvPr>
          <p:cNvSpPr>
            <a:spLocks noGrp="1"/>
          </p:cNvSpPr>
          <p:nvPr/>
        </p:nvSpPr>
        <p:spPr>
          <a:xfrm>
            <a:off x="914400" y="3457575"/>
            <a:ext cx="4286250" cy="419100"/>
          </a:xfrm>
          <a:prstGeom prst="roundRect">
            <a:avLst>
              <a:gd name="adj" fmla="val 18182"/>
            </a:avLst>
          </a:prstGeom>
          <a:solidFill>
            <a:srgbClr val="F3F7FB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ABBF118A-9CBB-4890-9302-F6B3E6182905}"/>
              </a:ext>
            </a:extLst>
          </p:cNvPr>
          <p:cNvSpPr>
            <a:spLocks noGrp="1"/>
          </p:cNvSpPr>
          <p:nvPr/>
        </p:nvSpPr>
        <p:spPr>
          <a:xfrm>
            <a:off x="1085850" y="36195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3890282-58FF-47A4-A68F-6F50759E6FCD}"/>
              </a:ext>
            </a:extLst>
          </p:cNvPr>
          <p:cNvSpPr>
            <a:spLocks noGrp="1"/>
          </p:cNvSpPr>
          <p:nvPr/>
        </p:nvSpPr>
        <p:spPr>
          <a:xfrm>
            <a:off x="1276350" y="3552825"/>
            <a:ext cx="377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9324A"/>
                </a:solidFill>
              </a:defRPr>
            </a:pPr>
            <a:r>
              <a:rPr sz="1200" b="0">
                <a:solidFill>
                  <a:srgbClr val="19324A"/>
                </a:solidFill>
              </a:rPr>
              <a:t>改报错：定位环境、路径、依赖和格式问题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B7C27578-85F8-4AAF-B523-C07F3CDFEB60}"/>
              </a:ext>
            </a:extLst>
          </p:cNvPr>
          <p:cNvSpPr>
            <a:spLocks noGrp="1"/>
          </p:cNvSpPr>
          <p:nvPr/>
        </p:nvSpPr>
        <p:spPr>
          <a:xfrm>
            <a:off x="914400" y="4067175"/>
            <a:ext cx="4286250" cy="419100"/>
          </a:xfrm>
          <a:prstGeom prst="roundRect">
            <a:avLst>
              <a:gd name="adj" fmla="val 18182"/>
            </a:avLst>
          </a:prstGeom>
          <a:solidFill>
            <a:srgbClr val="F3F7FB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764AFB22-B2F5-42C2-806F-0410B8B7717C}"/>
              </a:ext>
            </a:extLst>
          </p:cNvPr>
          <p:cNvSpPr>
            <a:spLocks noGrp="1"/>
          </p:cNvSpPr>
          <p:nvPr/>
        </p:nvSpPr>
        <p:spPr>
          <a:xfrm>
            <a:off x="1085850" y="42291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8B19E85-7321-4FF1-BF52-6F44E2F48334}"/>
              </a:ext>
            </a:extLst>
          </p:cNvPr>
          <p:cNvSpPr>
            <a:spLocks noGrp="1"/>
          </p:cNvSpPr>
          <p:nvPr/>
        </p:nvSpPr>
        <p:spPr>
          <a:xfrm>
            <a:off x="1276350" y="4162425"/>
            <a:ext cx="377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9324A"/>
                </a:solidFill>
              </a:defRPr>
            </a:pPr>
            <a:r>
              <a:rPr sz="1200" b="0">
                <a:solidFill>
                  <a:srgbClr val="19324A"/>
                </a:solidFill>
              </a:rPr>
              <a:t>写记录：生成实验表格、总结失败样本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91D1DD5A-C6BB-47F0-994D-F059FE30EB51}"/>
              </a:ext>
            </a:extLst>
          </p:cNvPr>
          <p:cNvSpPr>
            <a:spLocks noGrp="1"/>
          </p:cNvSpPr>
          <p:nvPr/>
        </p:nvSpPr>
        <p:spPr>
          <a:xfrm>
            <a:off x="6324600" y="1524000"/>
            <a:ext cx="4953000" cy="371475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7F6C701-CDB4-436B-8DB0-68B97575F07B}"/>
              </a:ext>
            </a:extLst>
          </p:cNvPr>
          <p:cNvSpPr>
            <a:spLocks noGrp="1"/>
          </p:cNvSpPr>
          <p:nvPr/>
        </p:nvSpPr>
        <p:spPr>
          <a:xfrm>
            <a:off x="6553200" y="1714500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3A5E"/>
                </a:solidFill>
              </a:defRPr>
            </a:pPr>
            <a:r>
              <a:rPr sz="1500" b="1">
                <a:solidFill>
                  <a:srgbClr val="173A5E"/>
                </a:solidFill>
              </a:rPr>
              <a:t>必须遵守的底线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61D61C52-8F8A-49D6-BFF9-62E92AFB4409}"/>
              </a:ext>
            </a:extLst>
          </p:cNvPr>
          <p:cNvSpPr>
            <a:spLocks noGrp="1"/>
          </p:cNvSpPr>
          <p:nvPr/>
        </p:nvSpPr>
        <p:spPr>
          <a:xfrm>
            <a:off x="6553200" y="2238375"/>
            <a:ext cx="4286250" cy="419100"/>
          </a:xfrm>
          <a:prstGeom prst="roundRect">
            <a:avLst>
              <a:gd name="adj" fmla="val 18182"/>
            </a:avLst>
          </a:prstGeom>
          <a:solidFill>
            <a:srgbClr val="F7FAFD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43992D86-D693-4ED4-AEE4-A50C3400F185}"/>
              </a:ext>
            </a:extLst>
          </p:cNvPr>
          <p:cNvSpPr>
            <a:spLocks noGrp="1"/>
          </p:cNvSpPr>
          <p:nvPr/>
        </p:nvSpPr>
        <p:spPr>
          <a:xfrm>
            <a:off x="6724650" y="24003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F1B0BF9-DAB5-4C08-B9F7-09451AACEE82}"/>
              </a:ext>
            </a:extLst>
          </p:cNvPr>
          <p:cNvSpPr>
            <a:spLocks noGrp="1"/>
          </p:cNvSpPr>
          <p:nvPr/>
        </p:nvSpPr>
        <p:spPr>
          <a:xfrm>
            <a:off x="6915150" y="2333625"/>
            <a:ext cx="377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9324A"/>
                </a:solidFill>
              </a:defRPr>
            </a:pPr>
            <a:r>
              <a:rPr sz="1200" b="0">
                <a:solidFill>
                  <a:srgbClr val="19324A"/>
                </a:solidFill>
              </a:rPr>
              <a:t>不能只复制代码，必须能跑通并记录结果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F85FC81C-1F34-4A36-B41F-29E4491BB539}"/>
              </a:ext>
            </a:extLst>
          </p:cNvPr>
          <p:cNvSpPr>
            <a:spLocks noGrp="1"/>
          </p:cNvSpPr>
          <p:nvPr/>
        </p:nvSpPr>
        <p:spPr>
          <a:xfrm>
            <a:off x="6553200" y="2847975"/>
            <a:ext cx="4286250" cy="419100"/>
          </a:xfrm>
          <a:prstGeom prst="roundRect">
            <a:avLst>
              <a:gd name="adj" fmla="val 18182"/>
            </a:avLst>
          </a:prstGeom>
          <a:solidFill>
            <a:srgbClr val="F7FAFD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8BDDDBD5-C434-4912-8340-8F290690448F}"/>
              </a:ext>
            </a:extLst>
          </p:cNvPr>
          <p:cNvSpPr>
            <a:spLocks noGrp="1"/>
          </p:cNvSpPr>
          <p:nvPr/>
        </p:nvSpPr>
        <p:spPr>
          <a:xfrm>
            <a:off x="6724650" y="30099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A68745E-015F-4A65-A7DD-66E39B22A3FC}"/>
              </a:ext>
            </a:extLst>
          </p:cNvPr>
          <p:cNvSpPr>
            <a:spLocks noGrp="1"/>
          </p:cNvSpPr>
          <p:nvPr/>
        </p:nvSpPr>
        <p:spPr>
          <a:xfrm>
            <a:off x="6915150" y="2943225"/>
            <a:ext cx="377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9324A"/>
                </a:solidFill>
              </a:defRPr>
            </a:pPr>
            <a:r>
              <a:rPr sz="1200" b="0">
                <a:solidFill>
                  <a:srgbClr val="19324A"/>
                </a:solidFill>
              </a:rPr>
              <a:t>每次实验要保存参数、样本范围和指标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2E8A624D-0CC9-47FF-8F88-7D410391C725}"/>
              </a:ext>
            </a:extLst>
          </p:cNvPr>
          <p:cNvSpPr>
            <a:spLocks noGrp="1"/>
          </p:cNvSpPr>
          <p:nvPr/>
        </p:nvSpPr>
        <p:spPr>
          <a:xfrm>
            <a:off x="6553200" y="3457575"/>
            <a:ext cx="4286250" cy="419100"/>
          </a:xfrm>
          <a:prstGeom prst="roundRect">
            <a:avLst>
              <a:gd name="adj" fmla="val 18182"/>
            </a:avLst>
          </a:prstGeom>
          <a:solidFill>
            <a:srgbClr val="F7FAFD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23034C09-89E1-489B-8516-A0AB170E4B19}"/>
              </a:ext>
            </a:extLst>
          </p:cNvPr>
          <p:cNvSpPr>
            <a:spLocks noGrp="1"/>
          </p:cNvSpPr>
          <p:nvPr/>
        </p:nvSpPr>
        <p:spPr>
          <a:xfrm>
            <a:off x="6724650" y="36195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1A1A47-319B-46B9-A945-A16AC08E3220}"/>
              </a:ext>
            </a:extLst>
          </p:cNvPr>
          <p:cNvSpPr>
            <a:spLocks noGrp="1"/>
          </p:cNvSpPr>
          <p:nvPr/>
        </p:nvSpPr>
        <p:spPr>
          <a:xfrm>
            <a:off x="6915150" y="3552825"/>
            <a:ext cx="377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9324A"/>
                </a:solidFill>
              </a:defRPr>
            </a:pPr>
            <a:r>
              <a:rPr sz="1200" b="0">
                <a:solidFill>
                  <a:srgbClr val="19324A"/>
                </a:solidFill>
              </a:rPr>
              <a:t>AI给出的技术结论要用数据集A验证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6547C2B7-AA18-447E-BD4B-2A0F1C48506D}"/>
              </a:ext>
            </a:extLst>
          </p:cNvPr>
          <p:cNvSpPr>
            <a:spLocks noGrp="1"/>
          </p:cNvSpPr>
          <p:nvPr/>
        </p:nvSpPr>
        <p:spPr>
          <a:xfrm>
            <a:off x="6553200" y="4067175"/>
            <a:ext cx="4286250" cy="419100"/>
          </a:xfrm>
          <a:prstGeom prst="roundRect">
            <a:avLst>
              <a:gd name="adj" fmla="val 18182"/>
            </a:avLst>
          </a:prstGeom>
          <a:solidFill>
            <a:srgbClr val="F7FAFD"/>
          </a:solidFill>
          <a:ln w="9525">
            <a:solidFill>
              <a:srgbClr val="D9E3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814EDD3A-7D01-49BD-9DF1-C26ADF83BD8B}"/>
              </a:ext>
            </a:extLst>
          </p:cNvPr>
          <p:cNvSpPr>
            <a:spLocks noGrp="1"/>
          </p:cNvSpPr>
          <p:nvPr/>
        </p:nvSpPr>
        <p:spPr>
          <a:xfrm>
            <a:off x="6724650" y="42291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495F6"/>
          </a:solidFill>
          <a:ln w="0">
            <a:solidFill>
              <a:srgbClr val="149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F24ADC8-2BC4-4135-AC81-B45E4D1C7F05}"/>
              </a:ext>
            </a:extLst>
          </p:cNvPr>
          <p:cNvSpPr>
            <a:spLocks noGrp="1"/>
          </p:cNvSpPr>
          <p:nvPr/>
        </p:nvSpPr>
        <p:spPr>
          <a:xfrm>
            <a:off x="6915150" y="4162425"/>
            <a:ext cx="3771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9324A"/>
                </a:solidFill>
              </a:defRPr>
            </a:pPr>
            <a:r>
              <a:rPr sz="1200" b="0">
                <a:solidFill>
                  <a:srgbClr val="19324A"/>
                </a:solidFill>
              </a:rPr>
              <a:t>没有Plus预算的同学可用DeepSeek v4-pro备选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FC2A221-3209-425C-9F1A-A0CCF8246D77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495F6"/>
                </a:solidFill>
              </a:defRPr>
            </a:pPr>
            <a:r>
              <a:rPr sz="1425" b="1">
                <a:solidFill>
                  <a:srgbClr val="1495F6"/>
                </a:solidFill>
              </a:rPr>
              <a:t>协作目标：让每个人更快进入模块，而不是让AI替代负责人或替代实验。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E3B2260-59B8-4F11-B6F9-A81339397340}"/>
              </a:ext>
            </a:extLst>
          </p:cNvPr>
          <p:cNvSpPr>
            <a:spLocks noGrp="1"/>
          </p:cNvSpPr>
          <p:nvPr/>
        </p:nvSpPr>
        <p:spPr>
          <a:xfrm>
            <a:off x="552450" y="6515100"/>
            <a:ext cx="647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B8DA0"/>
                </a:solidFill>
              </a:defRPr>
            </a:pPr>
            <a:r>
              <a:rPr sz="825" b="0">
                <a:solidFill>
                  <a:srgbClr val="7B8DA0"/>
                </a:solidFill>
              </a:rPr>
              <a:t>国家级大学生创新创业训练计划 · 创新训练项目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1324DCE-0EBD-4BC4-8E8A-6C57934D504D}"/>
              </a:ext>
            </a:extLst>
          </p:cNvPr>
          <p:cNvSpPr>
            <a:spLocks noGrp="1"/>
          </p:cNvSpPr>
          <p:nvPr/>
        </p:nvSpPr>
        <p:spPr>
          <a:xfrm>
            <a:off x="8896350" y="6515100"/>
            <a:ext cx="2743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7B8DA0"/>
                </a:solidFill>
              </a:defRPr>
            </a:pPr>
            <a:r>
              <a:rPr sz="825" b="0">
                <a:solidFill>
                  <a:srgbClr val="7B8DA0"/>
                </a:solidFill>
              </a:rPr>
              <a:t>杭州电子科技大学</a:t>
            </a:r>
          </a:p>
        </p:txBody>
      </p:sp>
    </p:spTree>
    <p:extLst>
      <p:ext uri="{BB962C8B-B14F-4D97-AF65-F5344CB8AC3E}">
        <p14:creationId xmlns:p14="http://schemas.microsoft.com/office/powerpoint/2010/main" val="1117979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63491" y="1123950"/>
            <a:ext cx="2665017" cy="896112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71A09C1-8EFD-42EC-996B-A062C9AAF62F}"/>
              </a:ext>
            </a:extLst>
          </p:cNvPr>
          <p:cNvSpPr>
            <a:spLocks noGrp="1"/>
          </p:cNvSpPr>
          <p:nvPr/>
        </p:nvSpPr>
        <p:spPr>
          <a:xfrm>
            <a:off x="0" y="2571750"/>
            <a:ext cx="12192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今天需要定下来的四件事</a:t>
            </a: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1B26127E-09B6-4387-B09B-FA762DAF1158}"/>
              </a:ext>
            </a:extLst>
          </p:cNvPr>
          <p:cNvSpPr>
            <a:spLocks noGrp="1"/>
          </p:cNvSpPr>
          <p:nvPr/>
        </p:nvSpPr>
        <p:spPr>
          <a:xfrm>
            <a:off x="1695450" y="3524250"/>
            <a:ext cx="1714500" cy="704850"/>
          </a:xfrm>
          <a:prstGeom prst="roundRect">
            <a:avLst>
              <a:gd name="adj" fmla="val 10811"/>
            </a:avLst>
          </a:prstGeom>
          <a:solidFill>
            <a:srgbClr val="204C78"/>
          </a:solidFill>
          <a:ln w="9525">
            <a:solidFill>
              <a:srgbClr val="356A9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475BBC4-E19B-47E9-AD6F-2E9FB5DBA741}"/>
              </a:ext>
            </a:extLst>
          </p:cNvPr>
          <p:cNvSpPr>
            <a:spLocks noGrp="1"/>
          </p:cNvSpPr>
          <p:nvPr/>
        </p:nvSpPr>
        <p:spPr>
          <a:xfrm>
            <a:off x="1790700" y="3743325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第一版技术路线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F5CB299B-C69F-4AF0-8929-A95D4D2F611A}"/>
              </a:ext>
            </a:extLst>
          </p:cNvPr>
          <p:cNvSpPr>
            <a:spLocks noGrp="1"/>
          </p:cNvSpPr>
          <p:nvPr/>
        </p:nvSpPr>
        <p:spPr>
          <a:xfrm>
            <a:off x="3981450" y="3524250"/>
            <a:ext cx="1714500" cy="704850"/>
          </a:xfrm>
          <a:prstGeom prst="roundRect">
            <a:avLst>
              <a:gd name="adj" fmla="val 10811"/>
            </a:avLst>
          </a:prstGeom>
          <a:solidFill>
            <a:srgbClr val="204C78"/>
          </a:solidFill>
          <a:ln w="9525">
            <a:solidFill>
              <a:srgbClr val="356A9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A3EB940-C734-406E-A097-EAE74EFBDF8B}"/>
              </a:ext>
            </a:extLst>
          </p:cNvPr>
          <p:cNvSpPr>
            <a:spLocks noGrp="1"/>
          </p:cNvSpPr>
          <p:nvPr/>
        </p:nvSpPr>
        <p:spPr>
          <a:xfrm>
            <a:off x="4076700" y="3743325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试运行分工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411BA5CE-4860-47AA-A8AF-63BAA5882FF3}"/>
              </a:ext>
            </a:extLst>
          </p:cNvPr>
          <p:cNvSpPr>
            <a:spLocks noGrp="1"/>
          </p:cNvSpPr>
          <p:nvPr/>
        </p:nvSpPr>
        <p:spPr>
          <a:xfrm>
            <a:off x="6267450" y="3524250"/>
            <a:ext cx="1714500" cy="704850"/>
          </a:xfrm>
          <a:prstGeom prst="roundRect">
            <a:avLst>
              <a:gd name="adj" fmla="val 10811"/>
            </a:avLst>
          </a:prstGeom>
          <a:solidFill>
            <a:srgbClr val="204C78"/>
          </a:solidFill>
          <a:ln w="9525">
            <a:solidFill>
              <a:srgbClr val="356A9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4AAD59B-346C-45DA-ABFC-19419310DC57}"/>
              </a:ext>
            </a:extLst>
          </p:cNvPr>
          <p:cNvSpPr>
            <a:spLocks noGrp="1"/>
          </p:cNvSpPr>
          <p:nvPr/>
        </p:nvSpPr>
        <p:spPr>
          <a:xfrm>
            <a:off x="6362700" y="3743325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本周最小任务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1FD2A7C2-4200-4494-8662-274B33DE9D2B}"/>
              </a:ext>
            </a:extLst>
          </p:cNvPr>
          <p:cNvSpPr>
            <a:spLocks noGrp="1"/>
          </p:cNvSpPr>
          <p:nvPr/>
        </p:nvSpPr>
        <p:spPr>
          <a:xfrm>
            <a:off x="8553450" y="3524250"/>
            <a:ext cx="1714500" cy="704850"/>
          </a:xfrm>
          <a:prstGeom prst="roundRect">
            <a:avLst>
              <a:gd name="adj" fmla="val 10811"/>
            </a:avLst>
          </a:prstGeom>
          <a:solidFill>
            <a:srgbClr val="204C78"/>
          </a:solidFill>
          <a:ln w="9525">
            <a:solidFill>
              <a:srgbClr val="356A9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804D1C1-54BE-4001-BBB7-E09FAB0AB701}"/>
              </a:ext>
            </a:extLst>
          </p:cNvPr>
          <p:cNvSpPr>
            <a:spLocks noGrp="1"/>
          </p:cNvSpPr>
          <p:nvPr/>
        </p:nvSpPr>
        <p:spPr>
          <a:xfrm>
            <a:off x="8648700" y="3743325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下次检查时间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52DB4BE-2DAF-47FA-9F03-07B36D07F4A3}"/>
              </a:ext>
            </a:extLst>
          </p:cNvPr>
          <p:cNvSpPr>
            <a:spLocks noGrp="1"/>
          </p:cNvSpPr>
          <p:nvPr/>
        </p:nvSpPr>
        <p:spPr>
          <a:xfrm>
            <a:off x="0" y="4800600"/>
            <a:ext cx="1219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DCEAF8"/>
                </a:solidFill>
              </a:defRPr>
            </a:pPr>
            <a:r>
              <a:rPr sz="1650" b="0">
                <a:solidFill>
                  <a:srgbClr val="DCEAF8"/>
                </a:solidFill>
              </a:rPr>
              <a:t>先把项目做成一个稳定、可测、可讲清楚的系统，再逐步追求更高分。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5281FFA-D008-4072-ACCC-DCCADA3D097F}"/>
              </a:ext>
            </a:extLst>
          </p:cNvPr>
          <p:cNvSpPr>
            <a:spLocks noGrp="1"/>
          </p:cNvSpPr>
          <p:nvPr/>
        </p:nvSpPr>
        <p:spPr>
          <a:xfrm>
            <a:off x="0" y="6210300"/>
            <a:ext cx="1219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B7CADC"/>
                </a:solidFill>
              </a:defRPr>
            </a:pPr>
            <a:r>
              <a:rPr sz="975" b="0">
                <a:solidFill>
                  <a:srgbClr val="B7CADC"/>
                </a:solidFill>
              </a:rPr>
              <a:t>复杂交互场景的抗干扰语音指令识别技术  ·  项目启动会</a:t>
            </a:r>
          </a:p>
        </p:txBody>
      </p:sp>
    </p:spTree>
    <p:extLst>
      <p:ext uri="{BB962C8B-B14F-4D97-AF65-F5344CB8AC3E}">
        <p14:creationId xmlns:p14="http://schemas.microsoft.com/office/powerpoint/2010/main" val="187138063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1027</Words>
  <Application>Microsoft Macintosh PowerPoint</Application>
  <DocSecurity>0</DocSecurity>
  <PresentationFormat>宽屏</PresentationFormat>
  <Paragraphs>290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5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z9918873@gmail.com</cp:lastModifiedBy>
  <cp:revision>2</cp:revision>
  <dcterms:created xsi:type="dcterms:W3CDTF">2026-07-05T07:50:20Z</dcterms:created>
  <dcterms:modified xsi:type="dcterms:W3CDTF">2026-07-05T08:39:58Z</dcterms:modified>
</cp:coreProperties>
</file>